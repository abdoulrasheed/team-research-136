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89" r:id="rId5"/>
    <p:sldId id="342" r:id="rId6"/>
    <p:sldId id="340" r:id="rId7"/>
    <p:sldId id="329" r:id="rId8"/>
    <p:sldId id="33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27" autoAdjust="0"/>
  </p:normalViewPr>
  <p:slideViewPr>
    <p:cSldViewPr snapToGrid="0">
      <p:cViewPr varScale="1">
        <p:scale>
          <a:sx n="74" d="100"/>
          <a:sy n="74" d="100"/>
        </p:scale>
        <p:origin x="1013" y="77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19/11/2025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446CD-193F-D508-83A2-688418E8E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F6648-B65B-F500-07C5-BE205EA5F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B70F4-D7FB-22A4-E1B8-CE303E1CB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ABDBF-43B8-AB64-C4C9-3B7DF6EA3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186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71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8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Research Question – </a:t>
            </a:r>
            <a:br>
              <a:rPr lang="en-US"/>
            </a:br>
            <a:r>
              <a:rPr lang="en-US" sz="4000"/>
              <a:t>Tutorial Presentation for Feedback</a:t>
            </a:r>
            <a:br>
              <a:rPr lang="en-US" sz="4000"/>
            </a:br>
            <a:r>
              <a:rPr lang="en-US" sz="2200"/>
              <a:t>Date: </a:t>
            </a:r>
            <a:br>
              <a:rPr lang="en-US" sz="8000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3999" y="1890000"/>
            <a:ext cx="10756555" cy="360000"/>
          </a:xfrm>
        </p:spPr>
        <p:txBody>
          <a:bodyPr/>
          <a:lstStyle/>
          <a:p>
            <a:r>
              <a:rPr lang="en-US" sz="2000" dirty="0"/>
              <a:t>Group Name:   A136                                                         Name of Student Presenting: Aroosha Rasheed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683" y="187036"/>
            <a:ext cx="11057174" cy="823529"/>
          </a:xfrm>
        </p:spPr>
        <p:txBody>
          <a:bodyPr/>
          <a:lstStyle/>
          <a:p>
            <a:r>
              <a:rPr lang="en-GB" dirty="0"/>
              <a:t>7COM1079-2025  Student Group No:  A136                  </a:t>
            </a:r>
          </a:p>
          <a:p>
            <a:r>
              <a:rPr lang="en-GB" dirty="0"/>
              <a:t>Names of Student Attendees : Aroosha Rasheed, AbdulRasheed Ibrahim, Sayan Sen, Nitika Chopra, </a:t>
            </a:r>
            <a:r>
              <a:rPr lang="en-US" dirty="0"/>
              <a:t>Vanajakshi </a:t>
            </a:r>
            <a:r>
              <a:rPr lang="en-US" dirty="0" err="1"/>
              <a:t>Gottapu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5649-0EDD-479D-A10D-5D1B9960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E914452-B270-04E9-2E26-B5EE6E05B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147638"/>
            <a:ext cx="9753625" cy="230832"/>
          </a:xfrm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GB" dirty="0">
                <a:solidFill>
                  <a:srgbClr val="203232"/>
                </a:solidFill>
                <a:cs typeface="Arial"/>
              </a:rPr>
              <a:t>Here is a sample of our dataset (first 5 rows):</a:t>
            </a:r>
          </a:p>
          <a:p>
            <a:pPr>
              <a:spcAft>
                <a:spcPts val="0"/>
              </a:spcAft>
            </a:pPr>
            <a:endParaRPr lang="en-GB" sz="1200" dirty="0">
              <a:solidFill>
                <a:schemeClr val="tx1"/>
              </a:solidFill>
              <a:cs typeface="Arial"/>
            </a:endParaRPr>
          </a:p>
          <a:p>
            <a:pPr>
              <a:spcAft>
                <a:spcPts val="0"/>
              </a:spcAft>
            </a:pPr>
            <a:endParaRPr lang="en-GB" sz="1800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4979F-163B-0875-281D-8E94EC58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 7COM1079-2025  Student Group No:  A136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90C69-06C0-E50A-24F0-37D4F74B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144FA96-8B6B-4DBC-3FFD-E1A2B48DC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884" y="2089858"/>
            <a:ext cx="10274316" cy="3334549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  <a:spcBef>
                <a:spcPts val="0"/>
              </a:spcBef>
              <a:spcAft>
                <a:spcPts val="992"/>
              </a:spcAft>
            </a:pPr>
            <a:br>
              <a:rPr lang="en-US" sz="3600" dirty="0"/>
            </a:br>
            <a:br>
              <a:rPr lang="en-GB" sz="3600" dirty="0">
                <a:solidFill>
                  <a:srgbClr val="FF0000"/>
                </a:solidFill>
                <a:cs typeface="Arial"/>
              </a:rPr>
            </a:br>
            <a:endParaRPr lang="en-GB" sz="3600" dirty="0">
              <a:solidFill>
                <a:srgbClr val="FF0000"/>
              </a:solidFill>
              <a:cs typeface="Arial"/>
            </a:endParaRPr>
          </a:p>
          <a:p>
            <a:endParaRPr lang="en-US" dirty="0">
              <a:solidFill>
                <a:srgbClr val="FF0000"/>
              </a:solidFill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1A740D-0870-1A08-9989-D6C7D7BD0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84" y="1616263"/>
            <a:ext cx="10274316" cy="362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941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3CD731-5ACF-B002-247D-243F6E21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147638"/>
            <a:ext cx="9753625" cy="230832"/>
          </a:xfrm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GB" dirty="0">
                <a:solidFill>
                  <a:srgbClr val="203232"/>
                </a:solidFill>
                <a:cs typeface="Arial"/>
              </a:rPr>
              <a:t>Information about Dataset: </a:t>
            </a:r>
            <a:endParaRPr lang="en-GB" sz="1800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 7COM1079-2025  Student Group No:  A136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E140EA5-BB03-811F-4631-603A97631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884" y="2089858"/>
            <a:ext cx="9965844" cy="2649857"/>
          </a:xfrm>
        </p:spPr>
        <p:txBody>
          <a:bodyPr>
            <a:normAutofit fontScale="90000"/>
          </a:bodyPr>
          <a:lstStyle/>
          <a:p>
            <a:pPr>
              <a:lnSpc>
                <a:spcPts val="2880"/>
              </a:lnSpc>
              <a:spcBef>
                <a:spcPts val="0"/>
              </a:spcBef>
              <a:spcAft>
                <a:spcPts val="992"/>
              </a:spcAft>
            </a:pPr>
            <a:r>
              <a:rPr lang="en-GB" sz="3600" dirty="0">
                <a:solidFill>
                  <a:srgbClr val="FF0000"/>
                </a:solidFill>
                <a:cs typeface="Arial"/>
              </a:rPr>
              <a:t>Columns chosen for the Research Question: </a:t>
            </a:r>
            <a:endParaRPr lang="en-US" sz="3600" b="0" dirty="0">
              <a:solidFill>
                <a:srgbClr val="FF0000"/>
              </a:solidFill>
              <a:cs typeface="Arial"/>
            </a:endParaRPr>
          </a:p>
          <a:p>
            <a:pPr marL="742950" indent="-742950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AutoNum type="arabicPeriod"/>
            </a:pPr>
            <a:r>
              <a:rPr lang="en-US" sz="3600" dirty="0">
                <a:solidFill>
                  <a:srgbClr val="FF0000"/>
                </a:solidFill>
                <a:cs typeface="Arial"/>
              </a:rPr>
              <a:t>Academic Score (CGPA) -  Dependent Variable</a:t>
            </a:r>
            <a:br>
              <a:rPr lang="en-US" sz="3600" dirty="0">
                <a:solidFill>
                  <a:srgbClr val="FF0000"/>
                </a:solidFill>
                <a:cs typeface="Arial"/>
              </a:rPr>
            </a:br>
            <a:r>
              <a:rPr lang="en-US" sz="3600" dirty="0">
                <a:solidFill>
                  <a:srgbClr val="FF0000"/>
                </a:solidFill>
                <a:cs typeface="Arial"/>
              </a:rPr>
              <a:t>Depression – Independent Variable</a:t>
            </a:r>
            <a:br>
              <a:rPr lang="en-US" sz="3600" dirty="0">
                <a:solidFill>
                  <a:srgbClr val="FF0000"/>
                </a:solidFill>
                <a:cs typeface="Arial"/>
              </a:rPr>
            </a:br>
            <a:endParaRPr lang="en-US" sz="3600" b="0" dirty="0">
              <a:solidFill>
                <a:srgbClr val="FF0000"/>
              </a:solidFill>
              <a:cs typeface="Arial"/>
            </a:endParaRPr>
          </a:p>
          <a:p>
            <a:pPr marL="742950" indent="-742950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AutoNum type="arabicPeriod"/>
            </a:pPr>
            <a:r>
              <a:rPr lang="en-GB" sz="3600" dirty="0">
                <a:solidFill>
                  <a:srgbClr val="FF0000"/>
                </a:solidFill>
                <a:cs typeface="Arial"/>
              </a:rPr>
              <a:t>Total Rows: 27,901 and 18 columns</a:t>
            </a:r>
            <a:br>
              <a:rPr lang="en-US" sz="3600" dirty="0"/>
            </a:br>
            <a:br>
              <a:rPr lang="en-GB" sz="3600" dirty="0">
                <a:solidFill>
                  <a:srgbClr val="FF0000"/>
                </a:solidFill>
                <a:cs typeface="Arial"/>
              </a:rPr>
            </a:br>
            <a:endParaRPr lang="en-GB" sz="3600" dirty="0">
              <a:solidFill>
                <a:srgbClr val="FF0000"/>
              </a:solidFill>
              <a:cs typeface="Arial"/>
            </a:endParaRPr>
          </a:p>
          <a:p>
            <a:endParaRPr lang="en-US" dirty="0">
              <a:solidFill>
                <a:srgbClr val="FF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309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285092"/>
            <a:ext cx="10110240" cy="58802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Dataset </a:t>
            </a:r>
            <a:r>
              <a:rPr lang="en-US" dirty="0">
                <a:solidFill>
                  <a:srgbClr val="203232"/>
                </a:solidFill>
              </a:rPr>
              <a:t>ID</a:t>
            </a:r>
            <a:r>
              <a:rPr lang="en-US" sz="1600" dirty="0">
                <a:solidFill>
                  <a:srgbClr val="FF0000"/>
                </a:solidFill>
              </a:rPr>
              <a:t>:   </a:t>
            </a:r>
            <a:r>
              <a:rPr lang="en-US" sz="2400" dirty="0">
                <a:solidFill>
                  <a:srgbClr val="FF0000"/>
                </a:solidFill>
              </a:rPr>
              <a:t>(ds002 – </a:t>
            </a:r>
            <a:r>
              <a:rPr lang="en-US" sz="2400" dirty="0" err="1">
                <a:solidFill>
                  <a:srgbClr val="FF0000"/>
                </a:solidFill>
              </a:rPr>
              <a:t>student_depression_dataset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324733"/>
            <a:ext cx="10612024" cy="230832"/>
          </a:xfrm>
        </p:spPr>
        <p:txBody>
          <a:bodyPr/>
          <a:lstStyle/>
          <a:p>
            <a:r>
              <a:rPr lang="en-GB" dirty="0"/>
              <a:t>7COM1079-2025  Student Group No: A136                   </a:t>
            </a:r>
          </a:p>
          <a:p>
            <a:r>
              <a:rPr lang="en-GB" dirty="0"/>
              <a:t>Names of Student Group Attendees: Aroosha Rasheed, AbdulRasheed Ibrahim, Sayan Sen, Nitika Chopra, </a:t>
            </a:r>
          </a:p>
          <a:p>
            <a:r>
              <a:rPr lang="en-US" dirty="0"/>
              <a:t>Vanajakshi </a:t>
            </a:r>
            <a:r>
              <a:rPr lang="en-US" dirty="0" err="1"/>
              <a:t>Gottapu</a:t>
            </a:r>
            <a:endParaRPr lang="en-US" dirty="0"/>
          </a:p>
          <a:p>
            <a:r>
              <a:rPr lang="en-US" dirty="0"/>
              <a:t> </a:t>
            </a:r>
            <a:r>
              <a:rPr lang="en-GB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4512" y="555565"/>
            <a:ext cx="622800" cy="230832"/>
          </a:xfrm>
        </p:spPr>
        <p:txBody>
          <a:bodyPr/>
          <a:lstStyle/>
          <a:p>
            <a:r>
              <a:rPr lang="en-US"/>
              <a:t>2</a:t>
            </a:r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FA3829-F12C-214D-8FBA-7E1A740F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88" y="2114402"/>
            <a:ext cx="10974945" cy="27746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dirty="0">
                <a:latin typeface="Calibri"/>
                <a:cs typeface="Calibri"/>
              </a:rPr>
              <a:t>This dataset is interesting to us because </a:t>
            </a: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(one sentence): It relates to student depression and the factors that affect it. </a:t>
            </a:r>
            <a:b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dirty="0">
                <a:latin typeface="Calibri"/>
                <a:cs typeface="Calibri"/>
              </a:rPr>
              <a:t>Our  Independent variable is: </a:t>
            </a: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Depression</a:t>
            </a:r>
            <a:br>
              <a:rPr lang="en-US" sz="2400" b="0" dirty="0">
                <a:latin typeface="Calibri"/>
                <a:cs typeface="Calibri"/>
              </a:rPr>
            </a:br>
            <a:r>
              <a:rPr lang="en-US" sz="2400" b="0" dirty="0">
                <a:latin typeface="Calibri"/>
                <a:cs typeface="Calibri"/>
              </a:rPr>
              <a:t>                  This  Independent variable datatype is (select one): </a:t>
            </a: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Nominal</a:t>
            </a:r>
            <a:b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dirty="0">
                <a:latin typeface="Calibri"/>
                <a:cs typeface="Calibri"/>
              </a:rPr>
              <a:t>Our Dependent variable is: </a:t>
            </a: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CGPA</a:t>
            </a:r>
            <a:b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</a:b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                   </a:t>
            </a:r>
            <a:r>
              <a:rPr lang="en-US" sz="2400" b="0" dirty="0">
                <a:latin typeface="Calibri"/>
                <a:cs typeface="Calibri"/>
              </a:rPr>
              <a:t>This Dependent variable datatype is  (select one): </a:t>
            </a:r>
            <a:r>
              <a:rPr lang="en-US" sz="2400" b="0" dirty="0">
                <a:solidFill>
                  <a:srgbClr val="FF0000"/>
                </a:solidFill>
                <a:latin typeface="Calibri"/>
                <a:cs typeface="Calibri"/>
              </a:rPr>
              <a:t>Interval</a:t>
            </a:r>
          </a:p>
        </p:txBody>
      </p:sp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3CD731-5ACF-B002-247D-243F6E21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147638"/>
            <a:ext cx="9753625" cy="23083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GB" dirty="0"/>
              <a:t>Our Research Question is:</a:t>
            </a:r>
            <a:endParaRPr lang="en-GB" sz="18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 7COM1079-2025  Student Group No:  A136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40DA25-F620-152B-DE9E-776F7B74D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89" y="1021854"/>
            <a:ext cx="10640594" cy="26780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br>
              <a:rPr lang="en-I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E" sz="2400" dirty="0">
                <a:effectLst/>
                <a:latin typeface="Calibri"/>
                <a:ea typeface="Calibri" panose="020F0502020204030204" pitchFamily="34" charset="0"/>
                <a:cs typeface="Times New Roman"/>
              </a:rPr>
              <a:t>Template</a:t>
            </a:r>
            <a:r>
              <a:rPr lang="en-IE" sz="2400" baseline="30000" dirty="0">
                <a:effectLst/>
                <a:latin typeface="Calibri"/>
                <a:ea typeface="Calibri" panose="020F0502020204030204" pitchFamily="34" charset="0"/>
                <a:cs typeface="Times New Roman"/>
              </a:rPr>
              <a:t>2</a:t>
            </a:r>
            <a:r>
              <a:rPr lang="en-IE" sz="2400" dirty="0">
                <a:effectLst/>
                <a:latin typeface="Calibri"/>
                <a:ea typeface="Calibri" panose="020F0502020204030204" pitchFamily="34" charset="0"/>
                <a:cs typeface="Times New Roman"/>
              </a:rPr>
              <a:t> :</a:t>
            </a:r>
            <a:r>
              <a:rPr lang="en-IE" sz="2400" b="0" dirty="0">
                <a:effectLst/>
                <a:latin typeface="Calibri"/>
                <a:ea typeface="Calibri" panose="020F0502020204030204" pitchFamily="34" charset="0"/>
                <a:cs typeface="Times New Roman"/>
              </a:rPr>
              <a:t>Interval/Ordinal vs Nominal. Data : </a:t>
            </a:r>
            <a:br>
              <a:rPr lang="en-IE" sz="2400" b="0" dirty="0">
                <a:effectLst/>
                <a:latin typeface="Calibri"/>
                <a:ea typeface="Calibri" panose="020F0502020204030204" pitchFamily="34" charset="0"/>
                <a:cs typeface="Times New Roman"/>
              </a:rPr>
            </a:br>
            <a:r>
              <a:rPr lang="en-US" sz="2400" dirty="0">
                <a:solidFill>
                  <a:srgbClr val="FF0000"/>
                </a:solidFill>
              </a:rPr>
              <a:t>Is there a difference in the mean student academic score (CGPA) between depressed and non-depressed students?</a:t>
            </a:r>
            <a:br>
              <a:rPr lang="en-GB" sz="2400" b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b="0" dirty="0">
                <a:solidFill>
                  <a:srgbClr val="FF0000"/>
                </a:solidFill>
                <a:cs typeface="Arial"/>
              </a:rPr>
              <a:t>Null hypothesis (H</a:t>
            </a:r>
            <a:r>
              <a:rPr lang="en-GB" sz="2400" b="0" baseline="-25000" dirty="0">
                <a:solidFill>
                  <a:srgbClr val="FF0000"/>
                </a:solidFill>
                <a:cs typeface="Arial"/>
              </a:rPr>
              <a:t>0</a:t>
            </a:r>
            <a:r>
              <a:rPr lang="en-GB" sz="2400" b="0" dirty="0">
                <a:solidFill>
                  <a:srgbClr val="FF0000"/>
                </a:solidFill>
                <a:cs typeface="Arial"/>
              </a:rPr>
              <a:t>): There is </a:t>
            </a:r>
            <a:r>
              <a:rPr lang="en-GB" sz="2400" dirty="0">
                <a:solidFill>
                  <a:srgbClr val="FF0000"/>
                </a:solidFill>
                <a:cs typeface="Arial"/>
              </a:rPr>
              <a:t>no</a:t>
            </a:r>
            <a:r>
              <a:rPr lang="en-GB" sz="2400" b="0" dirty="0">
                <a:solidFill>
                  <a:srgbClr val="FF0000"/>
                </a:solidFill>
                <a:cs typeface="Arial"/>
              </a:rPr>
              <a:t> difference in the mean/median of the student academic score (CGPA) among depressed and non-depressed students. </a:t>
            </a:r>
            <a:br>
              <a:rPr lang="en-GB" sz="2400" b="0" dirty="0">
                <a:solidFill>
                  <a:srgbClr val="FF0000"/>
                </a:solidFill>
                <a:cs typeface="Arial"/>
              </a:rPr>
            </a:br>
            <a:r>
              <a:rPr lang="en-GB" sz="2400" b="0" dirty="0">
                <a:solidFill>
                  <a:srgbClr val="FF0000"/>
                </a:solidFill>
                <a:cs typeface="Arial"/>
              </a:rPr>
              <a:t>             </a:t>
            </a:r>
            <a:br>
              <a:rPr lang="en-GB" sz="2400" b="0" dirty="0">
                <a:cs typeface="Arial"/>
              </a:rPr>
            </a:br>
            <a:r>
              <a:rPr lang="en-GB" sz="2400" b="0" dirty="0">
                <a:solidFill>
                  <a:srgbClr val="FF0000"/>
                </a:solidFill>
                <a:cs typeface="Arial"/>
              </a:rPr>
              <a:t>Alt hypothesis (H</a:t>
            </a:r>
            <a:r>
              <a:rPr lang="en-GB" sz="2400" b="0" baseline="-25000" dirty="0">
                <a:solidFill>
                  <a:srgbClr val="FF0000"/>
                </a:solidFill>
                <a:cs typeface="Arial"/>
              </a:rPr>
              <a:t>1</a:t>
            </a:r>
            <a:r>
              <a:rPr lang="en-GB" sz="2400" b="0" dirty="0">
                <a:solidFill>
                  <a:srgbClr val="FF0000"/>
                </a:solidFill>
                <a:cs typeface="Arial"/>
              </a:rPr>
              <a:t>): </a:t>
            </a:r>
            <a:r>
              <a:rPr lang="en-US" sz="2400" b="0" dirty="0">
                <a:solidFill>
                  <a:srgbClr val="FF0000"/>
                </a:solidFill>
              </a:rPr>
              <a:t>There is a difference in the median CGPA between depressed and non-depressed students.</a:t>
            </a:r>
            <a:br>
              <a:rPr lang="en-GB" sz="2400" b="0" dirty="0">
                <a:solidFill>
                  <a:srgbClr val="FF0000"/>
                </a:solidFill>
                <a:cs typeface="Arial"/>
              </a:rPr>
            </a:b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4612"/>
      </p:ext>
    </p:extLst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D1FC41-23C7-41B0-B5F9-BF4CD38AD2ED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3c474641-ec36-472f-b125-6b1b0910eaa4"/>
    <ds:schemaRef ds:uri="http://purl.org/dc/elements/1.1/"/>
    <ds:schemaRef ds:uri="4ad138b4-2b68-4b70-945d-07f8f18b1c9a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3e6beba-c4aa-4731-af5d-d735b097eadb}" enabled="0" method="" siteId="{93e6beba-c4aa-4731-af5d-d735b097ead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315</Words>
  <Application>Microsoft Office PowerPoint</Application>
  <PresentationFormat>Widescreen</PresentationFormat>
  <Paragraphs>29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Herts Theme</vt:lpstr>
      <vt:lpstr>Research Question –  Tutorial Presentation for Feedback Date:  </vt:lpstr>
      <vt:lpstr>   </vt:lpstr>
      <vt:lpstr>Columns chosen for the Research Question:  Academic Score (CGPA) -  Dependent Variable Depression – Independent Variable  Total Rows: 27,901 and 18 columns   </vt:lpstr>
      <vt:lpstr>This dataset is interesting to us because (one sentence): It relates to student depression and the factors that affect it.  Our  Independent variable is: Depression                   This  Independent variable datatype is (select one): Nominal Our Dependent variable is: CGPA                    This Dependent variable datatype is  (select one): Interval</vt:lpstr>
      <vt:lpstr>  Template2 :Interval/Ordinal vs Nominal. Data :  Is there a difference in the mean student academic score (CGPA) between depressed and non-depressed students?  Null hypothesis (H0): There is no difference in the mean/median of the student academic score (CGPA) among depressed and non-depressed students.                Alt hypothesis (H1): There is a difference in the median CGPA between depressed and non-depressed students.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Aroosha Rasheed [Student-PECS]</cp:lastModifiedBy>
  <cp:revision>134</cp:revision>
  <dcterms:created xsi:type="dcterms:W3CDTF">2019-10-01T08:37:56Z</dcterms:created>
  <dcterms:modified xsi:type="dcterms:W3CDTF">2025-11-19T07:33:57Z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