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4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89" r:id="rId5"/>
    <p:sldId id="329" r:id="rId6"/>
    <p:sldId id="347" r:id="rId7"/>
    <p:sldId id="355" r:id="rId8"/>
    <p:sldId id="357" r:id="rId9"/>
    <p:sldId id="341" r:id="rId10"/>
    <p:sldId id="352" r:id="rId11"/>
    <p:sldId id="259" r:id="rId12"/>
    <p:sldId id="340" r:id="rId13"/>
    <p:sldId id="351" r:id="rId14"/>
    <p:sldId id="342" r:id="rId15"/>
    <p:sldId id="262" r:id="rId16"/>
    <p:sldId id="35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249" userDrawn="1">
          <p15:clr>
            <a:srgbClr val="A4A3A4"/>
          </p15:clr>
        </p15:guide>
        <p15:guide id="4" pos="7068" userDrawn="1">
          <p15:clr>
            <a:srgbClr val="A4A3A4"/>
          </p15:clr>
        </p15:guide>
        <p15:guide id="5" orient="horz" pos="13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7CBE"/>
    <a:srgbClr val="85509A"/>
    <a:srgbClr val="714484"/>
    <a:srgbClr val="0073CF"/>
    <a:srgbClr val="203232"/>
    <a:srgbClr val="30454F"/>
    <a:srgbClr val="1295D8"/>
    <a:srgbClr val="004A5C"/>
    <a:srgbClr val="0093B6"/>
    <a:srgbClr val="00B9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5" y="62"/>
      </p:cViewPr>
      <p:guideLst>
        <p:guide orient="horz" pos="2160"/>
        <p:guide pos="3840"/>
        <p:guide orient="horz" pos="3249"/>
        <p:guide pos="7068"/>
        <p:guide orient="horz" pos="13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98966F2-21A1-4B2B-ADA6-AD0BB447B7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1468BB-CDF2-4507-B4EF-7B369D307A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AAC3A-BD1F-4A00-9099-74B95789FE00}" type="datetimeFigureOut">
              <a:rPr lang="en-GB" smtClean="0"/>
              <a:pPr/>
              <a:t>08/12/2025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BCF7D-6037-48D3-84E5-56B8B05521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19E732-656C-4BB5-ACCB-1568C5C66D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F51D9-0FEB-436E-9280-D6033F60354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05840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23T12:25:27.5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23T12:25:27.5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23T12:25:27.5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7T03:36:02.7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845 1,'-9'1,"1"0,0 1,0 0,0 0,1 1,-14 5,-14 6,-7-1,0-2,-1-1,-1-3,-61 4,-337-14,419 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23T12:25:27.5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03:35:22.9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0,'765'0'0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359C8A-39F6-4045-9163-4042C4C26B15}" type="datetimeFigureOut">
              <a:rPr lang="en-GB" smtClean="0"/>
              <a:pPr/>
              <a:t>08/12/2025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70952-48CC-46D7-9FCD-59FAD40CC02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0231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59414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43263-7B7F-9669-8C74-54BD783A1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AF9180-8333-4707-E031-7BA805E9E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51D82B-21FD-4588-7EA3-72B3F980E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12444-4EE2-3565-F6CC-E328145252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0823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EE6F2-0EF8-0287-27F0-CD4D84869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4177A5-7B20-7FF7-09DC-36750645C7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24C131-EA35-B27B-7CB7-BB00A3A0EE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49C5AC-6599-2CBF-F326-FDA08DCA28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2798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6EADD-41E9-75E1-B945-CC66CAC26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8308E2-EF07-0537-C632-4F38C09225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CA1534-6C37-6E8B-58F1-9299C93E7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9D110-CB82-5D03-1405-430DB37131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06587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45707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50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77DA20C-D3E3-4F02-A624-D52A93CA4942}" type="slidenum">
              <a:rPr lang="en-GB" sz="1200" b="0" strike="noStrike" spc="-1">
                <a:latin typeface="Times New Roman"/>
              </a:rPr>
              <a:t>12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DF9EA-333F-3A4F-1319-49836C992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>
            <a:extLst>
              <a:ext uri="{FF2B5EF4-FFF2-40B4-BE49-F238E27FC236}">
                <a16:creationId xmlns:a16="http://schemas.microsoft.com/office/drawing/2014/main" id="{24090A4B-994C-5B52-E294-918099E63C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49" name="PlaceHolder 2">
            <a:extLst>
              <a:ext uri="{FF2B5EF4-FFF2-40B4-BE49-F238E27FC236}">
                <a16:creationId xmlns:a16="http://schemas.microsoft.com/office/drawing/2014/main" id="{EF66D1F8-8FF0-B382-082E-2B2EA2CC835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50" name="TextShape 3">
            <a:extLst>
              <a:ext uri="{FF2B5EF4-FFF2-40B4-BE49-F238E27FC236}">
                <a16:creationId xmlns:a16="http://schemas.microsoft.com/office/drawing/2014/main" id="{91034AA0-84DC-81D3-6B95-78FD17FA7A63}"/>
              </a:ext>
            </a:extLst>
          </p:cNvPr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77DA20C-D3E3-4F02-A624-D52A93CA4942}" type="slidenum">
              <a:rPr lang="en-GB" sz="1200" b="0" strike="noStrike" spc="-1">
                <a:latin typeface="Times New Roman"/>
              </a:rPr>
              <a:t>13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85228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iversity of Hertfordshire logo">
            <a:extLst>
              <a:ext uri="{FF2B5EF4-FFF2-40B4-BE49-F238E27FC236}">
                <a16:creationId xmlns:a16="http://schemas.microsoft.com/office/drawing/2014/main" id="{16E4BB13-0D32-AA4A-BF91-2B76A7C182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44000" y="2854800"/>
            <a:ext cx="6501600" cy="115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167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1B53D-9933-445F-9B68-E730EB38A5A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3999" y="2579715"/>
            <a:ext cx="10031157" cy="2160000"/>
          </a:xfrm>
        </p:spPr>
        <p:txBody>
          <a:bodyPr anchor="t" anchorCtr="0">
            <a:normAutofit/>
          </a:bodyPr>
          <a:lstStyle>
            <a:lvl1pPr algn="l">
              <a:lnSpc>
                <a:spcPts val="8000"/>
              </a:lnSpc>
              <a:defRPr sz="7500" b="1" kern="3000" spc="-2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C6B9F5-608F-4534-96F0-C3A5E1A638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54000" y="1890000"/>
            <a:ext cx="10031156" cy="36000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 b="1" kern="3000" spc="-1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0E7B9-9AC6-4E42-A931-6FF91E649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79733"/>
            <a:ext cx="7176911" cy="230832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6D645-6420-4785-8316-43EF780F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79733"/>
            <a:ext cx="622800" cy="230832"/>
          </a:xfrm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BCCF2CA0-CCE3-4304-8F31-4D1CC50BCB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4000" y="5511600"/>
            <a:ext cx="2242800" cy="39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1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C6B9F5-608F-4534-96F0-C3A5E1A638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4000" y="1890000"/>
            <a:ext cx="7200000" cy="36000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 b="1" kern="3000" spc="-1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0E7B9-9AC6-4E42-A931-6FF91E649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91022"/>
            <a:ext cx="7176911" cy="230832"/>
          </a:xfrm>
        </p:spPr>
        <p:txBody>
          <a:bodyPr>
            <a:noAutofit/>
          </a:bodyPr>
          <a:lstStyle>
            <a:lvl1pPr>
              <a:defRPr>
                <a:solidFill>
                  <a:srgbClr val="8F9898"/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6D645-6420-4785-8316-43EF780F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91022"/>
            <a:ext cx="622800" cy="230832"/>
          </a:xfrm>
        </p:spPr>
        <p:txBody>
          <a:bodyPr wrap="square">
            <a:noAutofit/>
          </a:bodyPr>
          <a:lstStyle>
            <a:lvl1pPr>
              <a:defRPr>
                <a:solidFill>
                  <a:srgbClr val="8F9898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9449821-0D0D-644D-97A3-D56097A9C6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3999" y="2579715"/>
            <a:ext cx="10031157" cy="2160000"/>
          </a:xfrm>
        </p:spPr>
        <p:txBody>
          <a:bodyPr anchor="t" anchorCtr="0">
            <a:normAutofit/>
          </a:bodyPr>
          <a:lstStyle>
            <a:lvl1pPr algn="l">
              <a:lnSpc>
                <a:spcPts val="8000"/>
              </a:lnSpc>
              <a:defRPr sz="7500" b="1" kern="3000" spc="-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F6EB17-8019-7B4E-B53C-76B057A7C31F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03EF50-F00F-9643-BE53-F0A5272FC4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3998" y="5517266"/>
            <a:ext cx="2244881" cy="39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207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E49-0143-472F-897B-A7DAB87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FBDFA-876B-4255-A301-F62F1EDD8D6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73668" y="2717444"/>
            <a:ext cx="4903200" cy="31752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4pPr>
              <a:defRPr/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0C709-1F3D-4B13-A290-4041A33FB10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6000" y="2717444"/>
            <a:ext cx="4456800" cy="31752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4pPr>
              <a:defRPr/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b="0"/>
              <a:t>Add Text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9C5-E913-47B9-82DE-196768E6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58F66-ECA3-4B00-A383-8D2B862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A19DAE-53D8-4F04-A4B9-B6EDFC23886D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463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5" userDrawn="1">
          <p15:clr>
            <a:srgbClr val="FBAE40"/>
          </p15:clr>
        </p15:guide>
        <p15:guide id="3" pos="3989" userDrawn="1">
          <p15:clr>
            <a:srgbClr val="FBAE40"/>
          </p15:clr>
        </p15:guide>
        <p15:guide id="4" pos="370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E70B5-BA04-4DB3-853D-A1C05ADF8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40712-862D-4568-80A4-86117B89676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70139" y="2717600"/>
            <a:ext cx="10251722" cy="31752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B6D5D-0892-4B4E-86D9-894852B1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AA271-B0BA-42CD-A544-17AAB1FA2EEA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1322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E70B5-BA04-4DB3-853D-A1C05ADF82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4000" y="775255"/>
            <a:ext cx="7361569" cy="365125"/>
          </a:xfrm>
        </p:spPr>
        <p:txBody>
          <a:bodyPr/>
          <a:lstStyle/>
          <a:p>
            <a:r>
              <a:rPr lang="en-US"/>
              <a:t>Click to add title.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40712-862D-4568-80A4-86117B89676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70139" y="1367692"/>
            <a:ext cx="10251722" cy="4923693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AA271-B0BA-42CD-A544-17AAB1FA2EEA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730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arg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09D4C03-E8B1-644E-949B-F7AF911818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70139" y="1367692"/>
            <a:ext cx="10251722" cy="4923693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chemeClr val="bg1"/>
                </a:solidFill>
              </a:defRPr>
            </a:lvl1pPr>
            <a:lvl2pPr>
              <a:defRPr lang="en-US" dirty="0" smtClean="0">
                <a:solidFill>
                  <a:schemeClr val="bg1"/>
                </a:solidFill>
              </a:defRPr>
            </a:lvl2pPr>
            <a:lvl3pPr>
              <a:defRPr lang="en-GB" dirty="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2EDA17D-AAE6-954F-93C6-90B8D7B80B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4000" y="775255"/>
            <a:ext cx="736156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062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Image +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E49-0143-472F-897B-A7DAB87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0C709-1F3D-4B13-A290-4041A33FB10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835952" y="2728800"/>
            <a:ext cx="2959200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GB" spc="-100" baseline="0" dirty="0"/>
            </a:lvl4pPr>
            <a:lvl5pPr>
              <a:defRPr spc="-100" baseline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9C5-E913-47B9-82DE-196768E6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58F66-ECA3-4B00-A383-8D2B862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74043F1-6F14-49BD-83CA-12B559ABC10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088" y="2728913"/>
            <a:ext cx="6400800" cy="4129087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51C537-0174-43E5-8B81-C80AF1D06831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4113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+ 2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E49-0143-472F-897B-A7DAB87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9C5-E913-47B9-82DE-196768E6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58F66-ECA3-4B00-A383-8D2B862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9FCF96-B7D6-4CCD-A4AE-46A67249D3BD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41F3B7A-B2BF-40FC-8EB2-F1C37D31648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3999" y="2728800"/>
            <a:ext cx="2959199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GB" dirty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75B7A667-B99F-7A41-AAC3-ED24B9B1D92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278804" y="2728800"/>
            <a:ext cx="2959199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GB" dirty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93C1FF47-695D-B348-AF37-1ADF5736FA9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613975" y="2728800"/>
            <a:ext cx="2959199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GB" dirty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6047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07C322-846C-9045-AD91-A93C82FC5AA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2920352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de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9ABCF9A5-761F-434B-BBB5-D788CB1E79D8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140400" y="140400"/>
            <a:ext cx="11916000" cy="6580800"/>
          </a:xfrm>
          <a:solidFill>
            <a:schemeClr val="bg1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2809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s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B6D5D-0892-4B4E-86D9-894852B1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AA271-B0BA-42CD-A544-17AAB1FA2EEA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99880E3-4DE3-A642-9738-DF49DDCC9AC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70139" y="4079342"/>
            <a:ext cx="3144661" cy="2252134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F37D495-D835-8E4B-A177-5E12F893DDC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8077200" y="4062209"/>
            <a:ext cx="3144661" cy="2252134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 lang="en-US" b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</a:t>
            </a:r>
            <a:r>
              <a:rPr lang="en-US"/>
              <a:t>Text</a:t>
            </a:r>
            <a:endParaRPr lang="en-GB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6804C7E-983C-9246-90C0-AF8A0CE2CA84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523669" y="4062209"/>
            <a:ext cx="3144661" cy="2252134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 lang="en-US" b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</a:t>
            </a:r>
            <a:r>
              <a:rPr lang="en-US"/>
              <a:t>Text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410427-8F1D-7541-9C05-AFDD3531678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462175" y="1640942"/>
            <a:ext cx="2160587" cy="2160588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7">
            <a:extLst>
              <a:ext uri="{FF2B5EF4-FFF2-40B4-BE49-F238E27FC236}">
                <a16:creationId xmlns:a16="http://schemas.microsoft.com/office/drawing/2014/main" id="{8B7D5964-7A97-5742-8717-CCB747F84A0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015705" y="1640942"/>
            <a:ext cx="2160587" cy="2160588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344933FE-A401-A841-9AC3-B75285AA32D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569236" y="1640942"/>
            <a:ext cx="2160587" cy="216058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631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E2CE188-32E7-4242-9E44-E8055FC030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4002" y="5511600"/>
            <a:ext cx="2242795" cy="3979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81B53D-9933-445F-9B68-E730EB38A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6844" y="1964352"/>
            <a:ext cx="11828559" cy="1051570"/>
          </a:xfrm>
        </p:spPr>
        <p:txBody>
          <a:bodyPr vert="horz" wrap="none" lIns="0" tIns="0" rIns="0" bIns="0" rtlCol="0" anchor="t" anchorCtr="0">
            <a:noAutofit/>
          </a:bodyPr>
          <a:lstStyle>
            <a:lvl1pPr>
              <a:lnSpc>
                <a:spcPct val="100000"/>
              </a:lnSpc>
              <a:defRPr lang="en-GB" sz="7386" spc="-300" baseline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ts val="8186"/>
              </a:lnSpc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BE80A-BFEC-E24A-B510-73A571F1F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79733"/>
            <a:ext cx="7176911" cy="230832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B25B4-144A-5B4A-8EAD-2022412DF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79733"/>
            <a:ext cx="622800" cy="230832"/>
          </a:xfrm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21701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0370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1A62CF-E2B4-496D-829D-DCE372609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000" y="1890000"/>
            <a:ext cx="10279150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84EF4-0E07-4BF3-A4AB-3E8632AA7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139" y="2717600"/>
            <a:ext cx="10279150" cy="317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 b="1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27A5D-B761-4C2F-97E6-5D8254424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0139" y="775255"/>
            <a:ext cx="7176911" cy="230832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661B1-4E4B-4F85-ACA3-C34023D702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21333" y="783355"/>
            <a:ext cx="1400528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5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008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3" r:id="rId2"/>
    <p:sldLayoutId id="2147483677" r:id="rId3"/>
    <p:sldLayoutId id="2147483652" r:id="rId4"/>
    <p:sldLayoutId id="2147483682" r:id="rId5"/>
    <p:sldLayoutId id="2147483721" r:id="rId6"/>
    <p:sldLayoutId id="2147483722" r:id="rId7"/>
    <p:sldLayoutId id="2147483684" r:id="rId8"/>
    <p:sldLayoutId id="2147483685" r:id="rId9"/>
    <p:sldLayoutId id="2147483686" r:id="rId10"/>
    <p:sldLayoutId id="2147483723" r:id="rId11"/>
    <p:sldLayoutId id="2147483706" r:id="rId12"/>
    <p:sldLayoutId id="2147483697" r:id="rId13"/>
    <p:sldLayoutId id="2147483724" r:id="rId14"/>
  </p:sldLayoutIdLst>
  <p:hf hdr="0" dt="0"/>
  <p:txStyles>
    <p:titleStyle>
      <a:lvl1pPr algn="l" defTabSz="914400" rtl="0" eaLnBrk="1" latinLnBrk="0" hangingPunct="1">
        <a:lnSpc>
          <a:spcPts val="3600"/>
        </a:lnSpc>
        <a:spcBef>
          <a:spcPct val="0"/>
        </a:spcBef>
        <a:buNone/>
        <a:defRPr sz="3600" b="1" kern="2000" spc="-100" baseline="0">
          <a:solidFill>
            <a:srgbClr val="20323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ts val="2880"/>
        </a:lnSpc>
        <a:spcBef>
          <a:spcPts val="0"/>
        </a:spcBef>
        <a:spcAft>
          <a:spcPts val="992"/>
        </a:spcAft>
        <a:buFont typeface="Arial" panose="020B0604020202020204" pitchFamily="34" charset="0"/>
        <a:buNone/>
        <a:defRPr sz="2400" b="1" kern="2000" spc="-100" baseline="0">
          <a:solidFill>
            <a:srgbClr val="20323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ts val="2880"/>
        </a:lnSpc>
        <a:spcBef>
          <a:spcPts val="0"/>
        </a:spcBef>
        <a:spcAft>
          <a:spcPts val="992"/>
        </a:spcAft>
        <a:buFont typeface="Arial" panose="020B0604020202020204" pitchFamily="34" charset="0"/>
        <a:buNone/>
        <a:defRPr sz="2400" kern="2000" spc="-100" baseline="0">
          <a:solidFill>
            <a:srgbClr val="203232"/>
          </a:solidFill>
          <a:latin typeface="+mn-lt"/>
          <a:ea typeface="+mn-ea"/>
          <a:cs typeface="+mn-cs"/>
        </a:defRPr>
      </a:lvl2pPr>
      <a:lvl3pPr marL="216000" indent="-216000" algn="l" defTabSz="914400" rtl="0" eaLnBrk="1" latinLnBrk="0" hangingPunct="1">
        <a:lnSpc>
          <a:spcPts val="2880"/>
        </a:lnSpc>
        <a:spcBef>
          <a:spcPts val="0"/>
        </a:spcBef>
        <a:spcAft>
          <a:spcPts val="992"/>
        </a:spcAft>
        <a:buFont typeface="Arial" panose="020B0604020202020204" pitchFamily="34" charset="0"/>
        <a:buChar char="■"/>
        <a:defRPr sz="2400" kern="2000" spc="-100" baseline="0">
          <a:solidFill>
            <a:srgbClr val="20323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ts val="2160"/>
        </a:lnSpc>
        <a:spcBef>
          <a:spcPts val="0"/>
        </a:spcBef>
        <a:buFont typeface="Arial" panose="020B0604020202020204" pitchFamily="34" charset="0"/>
        <a:buNone/>
        <a:defRPr sz="1800" kern="1200">
          <a:solidFill>
            <a:srgbClr val="203232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ts val="2160"/>
        </a:lnSpc>
        <a:spcBef>
          <a:spcPts val="0"/>
        </a:spcBef>
        <a:buFont typeface="Arial" panose="020B0604020202020204" pitchFamily="34" charset="0"/>
        <a:buNone/>
        <a:defRPr sz="1800" b="1" kern="1200">
          <a:solidFill>
            <a:srgbClr val="20323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4" pos="604" userDrawn="1">
          <p15:clr>
            <a:srgbClr val="F26B43"/>
          </p15:clr>
        </p15:guide>
        <p15:guide id="5" pos="7076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  <p15:guide id="7" orient="horz" userDrawn="1">
          <p15:clr>
            <a:srgbClr val="F26B43"/>
          </p15:clr>
        </p15:guide>
        <p15:guide id="8" orient="horz" pos="604" userDrawn="1">
          <p15:clr>
            <a:srgbClr val="F26B43"/>
          </p15:clr>
        </p15:guide>
        <p15:guide id="10" orient="horz" pos="3712" userDrawn="1">
          <p15:clr>
            <a:srgbClr val="F26B43"/>
          </p15:clr>
        </p15:guide>
        <p15:guide id="11" orient="horz" pos="11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e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4.xml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6.xml"/><Relationship Id="rId5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0AEE4-CC66-FE42-B0C3-2CC7AFD37D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Visualization and Analysis – </a:t>
            </a:r>
            <a:br>
              <a:rPr lang="en-US" dirty="0"/>
            </a:br>
            <a:r>
              <a:rPr lang="en-US" sz="4000" dirty="0"/>
              <a:t>Tutorial Presentation for Feedback</a:t>
            </a:r>
            <a:br>
              <a:rPr lang="en-US" sz="4000" dirty="0"/>
            </a:br>
            <a:r>
              <a:rPr lang="en-US" sz="2200" dirty="0"/>
              <a:t>Date:  11/22/2025</a:t>
            </a:r>
            <a:br>
              <a:rPr lang="en-US" sz="8000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75DA97-5166-7F4B-BC83-F50AC8BEDC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4000" y="1890000"/>
            <a:ext cx="10567440" cy="360000"/>
          </a:xfrm>
        </p:spPr>
        <p:txBody>
          <a:bodyPr/>
          <a:lstStyle/>
          <a:p>
            <a:r>
              <a:rPr lang="en-US" sz="2000" dirty="0"/>
              <a:t>Group Id: A 136                                                          Name of Student Presenting:  Aroosha Rasheed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7F4D14-5620-EC41-A86C-6CC3CFD69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274320"/>
            <a:ext cx="10455567" cy="736245"/>
          </a:xfrm>
        </p:spPr>
        <p:txBody>
          <a:bodyPr/>
          <a:lstStyle/>
          <a:p>
            <a:r>
              <a:rPr lang="en-GB" dirty="0"/>
              <a:t>7COM1079-2025  Student Group No: A 136               </a:t>
            </a:r>
          </a:p>
          <a:p>
            <a:r>
              <a:rPr lang="en-GB" dirty="0"/>
              <a:t>Names of Student Attendees: Aroosha Rasheed (24105689), AbdulRasheed Ibrahim(</a:t>
            </a:r>
            <a:r>
              <a:rPr lang="en-US" dirty="0"/>
              <a:t>24158550</a:t>
            </a:r>
            <a:r>
              <a:rPr lang="en-GB" dirty="0"/>
              <a:t>), Sayan Sen(</a:t>
            </a:r>
            <a:r>
              <a:rPr lang="en-US" dirty="0"/>
              <a:t>24146068</a:t>
            </a:r>
            <a:r>
              <a:rPr lang="en-GB" dirty="0"/>
              <a:t>), Nitika Chopra(</a:t>
            </a:r>
            <a:r>
              <a:rPr lang="en-US" dirty="0"/>
              <a:t>24165303</a:t>
            </a:r>
            <a:r>
              <a:rPr lang="en-GB" dirty="0"/>
              <a:t>), </a:t>
            </a:r>
            <a:r>
              <a:rPr lang="en-US" dirty="0"/>
              <a:t>Vanajakshi </a:t>
            </a:r>
            <a:r>
              <a:rPr lang="en-US" dirty="0" err="1"/>
              <a:t>Gottapu</a:t>
            </a:r>
            <a:r>
              <a:rPr lang="en-GB" dirty="0"/>
              <a:t>(</a:t>
            </a:r>
            <a:r>
              <a:rPr lang="en-US" dirty="0"/>
              <a:t>24154707</a:t>
            </a:r>
            <a:r>
              <a:rPr lang="en-GB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584311-58F1-BD4D-8FED-50D72C3DE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8532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9D8228-727F-1E46-B5AD-91D158B82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8" y="2411482"/>
            <a:ext cx="10774428" cy="588024"/>
          </a:xfrm>
        </p:spPr>
        <p:txBody>
          <a:bodyPr/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We are using the dataset</a:t>
            </a:r>
            <a:r>
              <a:rPr lang="en-US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student_depression_dataset</a:t>
            </a:r>
            <a:r>
              <a:rPr lang="en-US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answer our Research Question  </a:t>
            </a:r>
          </a:p>
          <a:p>
            <a:r>
              <a:rPr lang="en-US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US" sz="2800" dirty="0">
                <a:solidFill>
                  <a:srgbClr val="FF0000"/>
                </a:solidFill>
              </a:rPr>
              <a:t>Is there a difference in the median student academic score (Cumulative Grade Point Average (CGPA)) between depressed and non-depressed University students in India?”</a:t>
            </a:r>
            <a:endParaRPr lang="en-US" sz="2800" baseline="30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US" sz="24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EBC183-8AA5-EC44-9987-D65F5C189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8" y="283022"/>
            <a:ext cx="9129687" cy="230832"/>
          </a:xfrm>
        </p:spPr>
        <p:txBody>
          <a:bodyPr/>
          <a:lstStyle/>
          <a:p>
            <a:r>
              <a:rPr lang="en-GB" dirty="0"/>
              <a:t>7COM1079-2025  Student Group No: A 136               </a:t>
            </a:r>
          </a:p>
          <a:p>
            <a:r>
              <a:rPr lang="en-GB" dirty="0"/>
              <a:t>Names of Student Attendees: Aroosha Rasheed (24105689), AbdulRasheed Ibrahim(</a:t>
            </a:r>
            <a:r>
              <a:rPr lang="en-US" dirty="0"/>
              <a:t>24158550</a:t>
            </a:r>
            <a:r>
              <a:rPr lang="en-GB" dirty="0"/>
              <a:t>), Sayan Sen(</a:t>
            </a:r>
            <a:r>
              <a:rPr lang="en-US" dirty="0"/>
              <a:t>24146068</a:t>
            </a:r>
            <a:r>
              <a:rPr lang="en-GB" dirty="0"/>
              <a:t>), Nitika Chopra(</a:t>
            </a:r>
            <a:r>
              <a:rPr lang="en-US" dirty="0"/>
              <a:t>24165303</a:t>
            </a:r>
            <a:r>
              <a:rPr lang="en-GB" dirty="0"/>
              <a:t>), </a:t>
            </a:r>
            <a:r>
              <a:rPr lang="en-US" dirty="0"/>
              <a:t>Vanajakshi </a:t>
            </a:r>
            <a:r>
              <a:rPr lang="en-US" dirty="0" err="1"/>
              <a:t>Gottapu</a:t>
            </a:r>
            <a:r>
              <a:rPr lang="en-GB" dirty="0"/>
              <a:t>(</a:t>
            </a:r>
            <a:r>
              <a:rPr lang="en-US" dirty="0"/>
              <a:t>24154707</a:t>
            </a:r>
            <a:r>
              <a:rPr lang="en-GB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D9611-42EE-7840-81EE-DD6B1A99C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2</a:t>
            </a:fld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4A00DAC-98CC-1D9A-E4A4-B99AD3FBA824}"/>
                  </a:ext>
                </a:extLst>
              </p14:cNvPr>
              <p14:cNvContentPartPr/>
              <p14:nvPr/>
            </p14:nvContentPartPr>
            <p14:xfrm>
              <a:off x="11548041" y="2705494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4A00DAC-98CC-1D9A-E4A4-B99AD3FBA8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30041" y="2687494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8004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61A1C-AA50-D158-0C7E-3A1BC9191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B85EB41-0324-80C1-D662-C74DC9788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8" y="1080637"/>
            <a:ext cx="10774428" cy="588024"/>
          </a:xfrm>
        </p:spPr>
        <p:txBody>
          <a:bodyPr/>
          <a:lstStyle/>
          <a:p>
            <a:br>
              <a:rPr lang="en-US" sz="24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0D3922-8E88-BA20-5E07-992A47701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1432" y="218879"/>
            <a:ext cx="10646609" cy="107454"/>
          </a:xfrm>
        </p:spPr>
        <p:txBody>
          <a:bodyPr/>
          <a:lstStyle/>
          <a:p>
            <a:r>
              <a:rPr lang="en-GB" sz="1100" dirty="0"/>
              <a:t>7COM1079-2025  Student Group No: A 136                    </a:t>
            </a:r>
          </a:p>
          <a:p>
            <a:r>
              <a:rPr lang="en-GB" sz="1100" dirty="0"/>
              <a:t>Names of Student Group Attendees: Aroosha Rasheed (24105689), AbdulRasheed Ibrahim(</a:t>
            </a:r>
            <a:r>
              <a:rPr lang="en-US" sz="1100" dirty="0"/>
              <a:t>24158550</a:t>
            </a:r>
            <a:r>
              <a:rPr lang="en-GB" sz="1100" dirty="0"/>
              <a:t>), Sayan Sen(</a:t>
            </a:r>
            <a:r>
              <a:rPr lang="en-US" sz="1100" dirty="0"/>
              <a:t>24146068</a:t>
            </a:r>
            <a:r>
              <a:rPr lang="en-GB" sz="1100" dirty="0"/>
              <a:t>), Nitika Chopra(</a:t>
            </a:r>
            <a:r>
              <a:rPr lang="en-US" sz="1100" dirty="0"/>
              <a:t>24165303</a:t>
            </a:r>
            <a:r>
              <a:rPr lang="en-GB" sz="1100" dirty="0"/>
              <a:t>), </a:t>
            </a:r>
            <a:r>
              <a:rPr lang="en-US" sz="1100" dirty="0"/>
              <a:t>Vanajakshi </a:t>
            </a:r>
            <a:r>
              <a:rPr lang="en-US" sz="1100" dirty="0" err="1"/>
              <a:t>Gottapu</a:t>
            </a:r>
            <a:r>
              <a:rPr lang="en-GB" sz="1100" dirty="0"/>
              <a:t>(</a:t>
            </a:r>
            <a:r>
              <a:rPr lang="en-US" sz="1100" dirty="0"/>
              <a:t>24154707</a:t>
            </a:r>
            <a:r>
              <a:rPr lang="en-GB" sz="1100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4634B-E812-EFF7-5CD1-5964BBB9A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3</a:t>
            </a:fld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3988E5E-D0BC-590E-C5B1-160B9C995959}"/>
                  </a:ext>
                </a:extLst>
              </p14:cNvPr>
              <p14:cNvContentPartPr/>
              <p14:nvPr/>
            </p14:nvContentPartPr>
            <p14:xfrm>
              <a:off x="11548041" y="2705494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4A00DAC-98CC-1D9A-E4A4-B99AD3FBA8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30041" y="2687494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2">
            <a:extLst>
              <a:ext uri="{FF2B5EF4-FFF2-40B4-BE49-F238E27FC236}">
                <a16:creationId xmlns:a16="http://schemas.microsoft.com/office/drawing/2014/main" id="{421B0468-C317-C2FE-2803-FC20CFB8A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6626" y="945624"/>
            <a:ext cx="7818747" cy="3663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9F570E-FE77-4E43-BFC3-E5150E5F951A}"/>
              </a:ext>
            </a:extLst>
          </p:cNvPr>
          <p:cNvSpPr txBox="1"/>
          <p:nvPr/>
        </p:nvSpPr>
        <p:spPr>
          <a:xfrm>
            <a:off x="3746090" y="4896465"/>
            <a:ext cx="6174658" cy="310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lnSpc>
                <a:spcPts val="1987"/>
              </a:lnSpc>
            </a:pPr>
            <a:r>
              <a:rPr lang="en-US" sz="1800" b="1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Original Columns</a:t>
            </a:r>
          </a:p>
          <a:p>
            <a:pPr algn="l" rtl="0" fontAlgn="base">
              <a:lnSpc>
                <a:spcPts val="1987"/>
              </a:lnSpc>
            </a:pPr>
            <a:endParaRPr lang="en-US" sz="1800" b="1" i="0" u="none" strike="noStrike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lnSpc>
                <a:spcPts val="1987"/>
              </a:lnSpc>
              <a:buFont typeface="+mj-lt"/>
              <a:buAutoNum type="arabicPeriod"/>
            </a:pPr>
            <a:r>
              <a:rPr lang="en-US" sz="1800" b="1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Columns chosen for the visualization:</a:t>
            </a:r>
          </a:p>
          <a:p>
            <a:pPr algn="l" rtl="0" fontAlgn="base">
              <a:lnSpc>
                <a:spcPts val="1987"/>
              </a:lnSpc>
            </a:pPr>
            <a:r>
              <a:rPr lang="en-US" sz="1800" b="1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Academic Score (CGPA) - Dependent Variable</a:t>
            </a:r>
            <a:r>
              <a:rPr lang="en-US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  <a:t>​</a:t>
            </a:r>
            <a:br>
              <a:rPr lang="en-US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</a:br>
            <a:r>
              <a:rPr lang="en-US" sz="1800" b="1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Depression – Independent Variable</a:t>
            </a:r>
            <a:r>
              <a:rPr lang="en-US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  <a:t>​</a:t>
            </a:r>
            <a:br>
              <a:rPr lang="en-US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</a:br>
            <a:r>
              <a:rPr lang="en-US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  <a:t>​</a:t>
            </a:r>
            <a:endParaRPr lang="en-US" b="0" i="0" dirty="0">
              <a:solidFill>
                <a:srgbClr val="203232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lnSpc>
                <a:spcPts val="1987"/>
              </a:lnSpc>
            </a:pPr>
            <a:r>
              <a:rPr lang="en-GB" sz="1800" b="1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2. Total Rows: 27,901 and 18 columns</a:t>
            </a:r>
            <a:r>
              <a:rPr lang="en-GB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  <a:t>​</a:t>
            </a:r>
            <a:br>
              <a:rPr lang="en-GB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</a:br>
            <a:r>
              <a:rPr lang="en-GB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  <a:t>​</a:t>
            </a:r>
            <a:br>
              <a:rPr lang="en-GB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</a:br>
            <a:r>
              <a:rPr lang="en-GB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  <a:t>​</a:t>
            </a:r>
            <a:endParaRPr lang="en-GB" b="0" i="0" dirty="0">
              <a:solidFill>
                <a:srgbClr val="203232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lnSpc>
                <a:spcPts val="5520"/>
              </a:lnSpc>
              <a:buNone/>
            </a:pPr>
            <a:r>
              <a:rPr lang="en-US" sz="4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  <a:t>​</a:t>
            </a:r>
            <a:endParaRPr lang="en-US" b="0" i="0" dirty="0">
              <a:solidFill>
                <a:srgbClr val="203232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789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E8B72-2189-FEC7-8EFB-D6CEF561B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1D23E90-BB79-2752-402F-A441E3905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8" y="1080637"/>
            <a:ext cx="10774428" cy="588024"/>
          </a:xfrm>
        </p:spPr>
        <p:txBody>
          <a:bodyPr/>
          <a:lstStyle/>
          <a:p>
            <a:br>
              <a:rPr lang="en-US" sz="24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FC6B8-243A-6527-4B2A-067F551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4</a:t>
            </a:fld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10AE720-45C2-7355-F524-4CF17CF626BE}"/>
                  </a:ext>
                </a:extLst>
              </p14:cNvPr>
              <p14:cNvContentPartPr/>
              <p14:nvPr/>
            </p14:nvContentPartPr>
            <p14:xfrm>
              <a:off x="11548041" y="2705494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4A00DAC-98CC-1D9A-E4A4-B99AD3FBA8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30041" y="2687494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EF20C69-E844-3C13-661D-93BA2FF3660B}"/>
              </a:ext>
            </a:extLst>
          </p:cNvPr>
          <p:cNvSpPr txBox="1"/>
          <p:nvPr/>
        </p:nvSpPr>
        <p:spPr>
          <a:xfrm>
            <a:off x="901432" y="313721"/>
            <a:ext cx="6174658" cy="2849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lnSpc>
                <a:spcPts val="1987"/>
              </a:lnSpc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Data Filtering and Cleaning</a:t>
            </a:r>
            <a:endParaRPr lang="en-US" sz="2400" b="1" i="0" u="none" strike="noStrike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lnSpc>
                <a:spcPts val="1987"/>
              </a:lnSpc>
            </a:pPr>
            <a:endParaRPr lang="en-US" sz="1800" b="1" i="0" u="none" strike="noStrike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lnSpc>
                <a:spcPts val="1987"/>
              </a:lnSpc>
              <a:buFont typeface="+mj-lt"/>
              <a:buAutoNum type="arabicPeriod"/>
            </a:pPr>
            <a:r>
              <a:rPr lang="en-GB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  <a:t> Filter Profession == “Student”</a:t>
            </a:r>
          </a:p>
          <a:p>
            <a:pPr algn="l" rtl="0" fontAlgn="base">
              <a:lnSpc>
                <a:spcPts val="1987"/>
              </a:lnSpc>
              <a:buFont typeface="+mj-lt"/>
              <a:buAutoNum type="arabicPeriod"/>
            </a:pPr>
            <a:endParaRPr lang="en-GB" sz="1800" b="0" i="0" dirty="0">
              <a:solidFill>
                <a:srgbClr val="203232"/>
              </a:solidFill>
              <a:effectLst/>
              <a:latin typeface="Arial" panose="020B0604020202020204" pitchFamily="34" charset="0"/>
            </a:endParaRPr>
          </a:p>
          <a:p>
            <a:pPr fontAlgn="base">
              <a:lnSpc>
                <a:spcPts val="1987"/>
              </a:lnSpc>
            </a:pPr>
            <a:r>
              <a:rPr lang="en-GB" dirty="0">
                <a:solidFill>
                  <a:srgbClr val="203232"/>
                </a:solidFill>
                <a:latin typeface="Arial" panose="020B0604020202020204" pitchFamily="34" charset="0"/>
              </a:rPr>
              <a:t>#find the unique values in "Profession" </a:t>
            </a:r>
            <a:r>
              <a:rPr lang="en-GB" dirty="0" err="1">
                <a:solidFill>
                  <a:srgbClr val="203232"/>
                </a:solidFill>
                <a:latin typeface="Arial" panose="020B0604020202020204" pitchFamily="34" charset="0"/>
              </a:rPr>
              <a:t>columnunique</a:t>
            </a:r>
            <a:r>
              <a:rPr lang="en-GB" dirty="0">
                <a:solidFill>
                  <a:srgbClr val="203232"/>
                </a:solidFill>
                <a:latin typeface="Arial" panose="020B0604020202020204" pitchFamily="34" charset="0"/>
              </a:rPr>
              <a:t>(</a:t>
            </a:r>
            <a:r>
              <a:rPr lang="en-GB" dirty="0" err="1">
                <a:solidFill>
                  <a:srgbClr val="203232"/>
                </a:solidFill>
                <a:latin typeface="Arial" panose="020B0604020202020204" pitchFamily="34" charset="0"/>
              </a:rPr>
              <a:t>data$Profession</a:t>
            </a:r>
            <a:r>
              <a:rPr lang="en-GB" dirty="0">
                <a:solidFill>
                  <a:srgbClr val="203232"/>
                </a:solidFill>
                <a:latin typeface="Arial" panose="020B0604020202020204" pitchFamily="34" charset="0"/>
              </a:rPr>
              <a:t>)</a:t>
            </a:r>
            <a:br>
              <a:rPr lang="en-GB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</a:br>
            <a:r>
              <a:rPr lang="en-GB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  <a:t>​</a:t>
            </a:r>
            <a:br>
              <a:rPr lang="en-GB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</a:br>
            <a:r>
              <a:rPr lang="en-GB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  <a:t>​</a:t>
            </a:r>
            <a:endParaRPr lang="en-GB" b="0" i="0" dirty="0">
              <a:solidFill>
                <a:srgbClr val="203232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lnSpc>
                <a:spcPts val="5520"/>
              </a:lnSpc>
              <a:buNone/>
            </a:pPr>
            <a:r>
              <a:rPr lang="en-US" sz="4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  <a:t>​</a:t>
            </a:r>
            <a:endParaRPr lang="en-US" b="0" i="0" dirty="0">
              <a:solidFill>
                <a:srgbClr val="20323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10" name="Picture 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86B784B-34DE-7792-9889-D75CD5054A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432" y="2083100"/>
            <a:ext cx="5017587" cy="15184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68D2650-716B-952F-ADDD-1C15E0A6C5D1}"/>
              </a:ext>
            </a:extLst>
          </p:cNvPr>
          <p:cNvSpPr txBox="1"/>
          <p:nvPr/>
        </p:nvSpPr>
        <p:spPr>
          <a:xfrm>
            <a:off x="4420473" y="3930135"/>
            <a:ext cx="619592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en-US" dirty="0">
                <a:solidFill>
                  <a:srgbClr val="FF0000"/>
                </a:solidFill>
              </a:rPr>
              <a:t>&gt; #find the number of rows that are not students</a:t>
            </a:r>
          </a:p>
          <a:p>
            <a:pPr latinLnBrk="1"/>
            <a:r>
              <a:rPr lang="en-US" dirty="0">
                <a:solidFill>
                  <a:srgbClr val="FF0000"/>
                </a:solidFill>
              </a:rPr>
              <a:t>&gt; data %&gt;% </a:t>
            </a:r>
          </a:p>
          <a:p>
            <a:pPr latinLnBrk="1"/>
            <a:r>
              <a:rPr lang="en-US" dirty="0">
                <a:solidFill>
                  <a:srgbClr val="FF0000"/>
                </a:solidFill>
              </a:rPr>
              <a:t>+   filter(Profession != "Student") %&gt;% </a:t>
            </a:r>
          </a:p>
          <a:p>
            <a:pPr latinLnBrk="1"/>
            <a:r>
              <a:rPr lang="en-US" dirty="0">
                <a:solidFill>
                  <a:srgbClr val="FF0000"/>
                </a:solidFill>
              </a:rPr>
              <a:t>+   </a:t>
            </a:r>
            <a:r>
              <a:rPr lang="en-US" dirty="0" err="1">
                <a:solidFill>
                  <a:srgbClr val="FF0000"/>
                </a:solidFill>
              </a:rPr>
              <a:t>nrow</a:t>
            </a:r>
            <a:r>
              <a:rPr lang="en-US" dirty="0">
                <a:solidFill>
                  <a:srgbClr val="FF0000"/>
                </a:solidFill>
              </a:rPr>
              <a:t>()</a:t>
            </a:r>
          </a:p>
          <a:p>
            <a:pPr latinLnBrk="1"/>
            <a:r>
              <a:rPr lang="en-US" dirty="0">
                <a:solidFill>
                  <a:srgbClr val="FF0000"/>
                </a:solidFill>
              </a:rPr>
              <a:t>  31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# Filter students only</a:t>
            </a:r>
          </a:p>
          <a:p>
            <a:r>
              <a:rPr lang="en-US" dirty="0" err="1">
                <a:solidFill>
                  <a:srgbClr val="FF0000"/>
                </a:solidFill>
              </a:rPr>
              <a:t>data_students</a:t>
            </a:r>
            <a:r>
              <a:rPr lang="en-US" dirty="0">
                <a:solidFill>
                  <a:srgbClr val="FF0000"/>
                </a:solidFill>
              </a:rPr>
              <a:t> &lt;- data %&gt;%  filter(Profession == "Student")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4382D2D-F749-9EDF-05EF-4AD26580F94F}"/>
                  </a:ext>
                </a:extLst>
              </p14:cNvPr>
              <p14:cNvContentPartPr/>
              <p14:nvPr/>
            </p14:nvContentPartPr>
            <p14:xfrm>
              <a:off x="4651394" y="5200788"/>
              <a:ext cx="304560" cy="309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4382D2D-F749-9EDF-05EF-4AD26580F94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97394" y="5093148"/>
                <a:ext cx="412200" cy="24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9898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6BF50-1B39-5F8C-61EF-4DC2E344C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54EEBB1-4F2C-44DD-90F2-01BC44AB23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8" y="1080637"/>
            <a:ext cx="10774428" cy="588024"/>
          </a:xfrm>
        </p:spPr>
        <p:txBody>
          <a:bodyPr/>
          <a:lstStyle/>
          <a:p>
            <a:br>
              <a:rPr lang="en-US" sz="24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D0027-AD51-26E3-3517-BA93976F1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5</a:t>
            </a:fld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1235010-1614-70DC-F3F7-0C38BB77CDF6}"/>
                  </a:ext>
                </a:extLst>
              </p14:cNvPr>
              <p14:cNvContentPartPr/>
              <p14:nvPr/>
            </p14:nvContentPartPr>
            <p14:xfrm>
              <a:off x="11548041" y="2705494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4A00DAC-98CC-1D9A-E4A4-B99AD3FBA8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30041" y="2687494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53E785F-3E81-F91B-237D-870DC1C6E922}"/>
              </a:ext>
            </a:extLst>
          </p:cNvPr>
          <p:cNvSpPr txBox="1"/>
          <p:nvPr/>
        </p:nvSpPr>
        <p:spPr>
          <a:xfrm>
            <a:off x="773613" y="372152"/>
            <a:ext cx="10966103" cy="2593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lnSpc>
                <a:spcPts val="1987"/>
              </a:lnSpc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Data Filtering and Cleaning</a:t>
            </a:r>
            <a:endParaRPr lang="en-US" sz="2400" b="1" i="0" u="none" strike="noStrike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lnSpc>
                <a:spcPts val="1987"/>
              </a:lnSpc>
            </a:pPr>
            <a:endParaRPr lang="en-US" sz="1800" b="1" i="0" u="none" strike="noStrike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lnSpc>
                <a:spcPts val="1987"/>
              </a:lnSpc>
            </a:pPr>
            <a:r>
              <a:rPr lang="en-GB" dirty="0">
                <a:solidFill>
                  <a:srgbClr val="203232"/>
                </a:solidFill>
                <a:latin typeface="Arial" panose="020B0604020202020204" pitchFamily="34" charset="0"/>
              </a:rPr>
              <a:t>2. Remove any rows with N/A values/null values from CGPA / Depression columns and remove rows where “CGPA” = 0 </a:t>
            </a:r>
            <a:endParaRPr lang="en-GB" sz="1800" b="0" i="0" dirty="0">
              <a:solidFill>
                <a:srgbClr val="203232"/>
              </a:solidFill>
              <a:effectLst/>
              <a:latin typeface="Arial" panose="020B0604020202020204" pitchFamily="34" charset="0"/>
            </a:endParaRPr>
          </a:p>
          <a:p>
            <a:pPr fontAlgn="base">
              <a:lnSpc>
                <a:spcPts val="1987"/>
              </a:lnSpc>
            </a:pPr>
            <a:br>
              <a:rPr lang="en-GB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</a:br>
            <a:r>
              <a:rPr lang="en-GB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  <a:t>​</a:t>
            </a:r>
            <a:br>
              <a:rPr lang="en-GB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</a:br>
            <a:r>
              <a:rPr lang="en-GB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  <a:t>​</a:t>
            </a:r>
            <a:endParaRPr lang="en-GB" b="0" i="0" dirty="0">
              <a:solidFill>
                <a:srgbClr val="203232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lnSpc>
                <a:spcPts val="5520"/>
              </a:lnSpc>
              <a:buNone/>
            </a:pPr>
            <a:r>
              <a:rPr lang="en-US" sz="4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  <a:t>​</a:t>
            </a:r>
            <a:endParaRPr lang="en-US" b="0" i="0" dirty="0">
              <a:solidFill>
                <a:srgbClr val="203232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9A4D7F-CE09-D6A4-A3AB-3DC20E75D413}"/>
              </a:ext>
            </a:extLst>
          </p:cNvPr>
          <p:cNvSpPr txBox="1"/>
          <p:nvPr/>
        </p:nvSpPr>
        <p:spPr>
          <a:xfrm>
            <a:off x="773613" y="3429000"/>
            <a:ext cx="107596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nn-NO" dirty="0">
                <a:solidFill>
                  <a:srgbClr val="FF0000"/>
                </a:solidFill>
              </a:rPr>
              <a:t>&gt; data_students %&gt;% </a:t>
            </a:r>
          </a:p>
          <a:p>
            <a:pPr latinLnBrk="1"/>
            <a:r>
              <a:rPr lang="nn-NO" dirty="0">
                <a:solidFill>
                  <a:srgbClr val="FF0000"/>
                </a:solidFill>
              </a:rPr>
              <a:t>+   filter(CGPA == 0)  %&gt;% </a:t>
            </a:r>
          </a:p>
          <a:p>
            <a:pPr latinLnBrk="1"/>
            <a:r>
              <a:rPr lang="nn-NO" dirty="0">
                <a:solidFill>
                  <a:srgbClr val="FF0000"/>
                </a:solidFill>
              </a:rPr>
              <a:t>+   nrow()</a:t>
            </a:r>
          </a:p>
          <a:p>
            <a:pPr latinLnBrk="1"/>
            <a:r>
              <a:rPr lang="nn-NO" dirty="0">
                <a:solidFill>
                  <a:srgbClr val="FF0000"/>
                </a:solidFill>
              </a:rPr>
              <a:t>    9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# Clean data; Remove any rows with missing CGPA or Depression values, and remove CGPA of 0 </a:t>
            </a:r>
            <a:r>
              <a:rPr lang="en-US" dirty="0" err="1">
                <a:solidFill>
                  <a:srgbClr val="FF0000"/>
                </a:solidFill>
              </a:rPr>
              <a:t>data_clean</a:t>
            </a:r>
            <a:r>
              <a:rPr lang="en-US" dirty="0">
                <a:solidFill>
                  <a:srgbClr val="FF0000"/>
                </a:solidFill>
              </a:rPr>
              <a:t> &lt;- </a:t>
            </a:r>
            <a:r>
              <a:rPr lang="en-US" dirty="0" err="1">
                <a:solidFill>
                  <a:srgbClr val="FF0000"/>
                </a:solidFill>
              </a:rPr>
              <a:t>data_students</a:t>
            </a:r>
            <a:r>
              <a:rPr lang="en-US" dirty="0">
                <a:solidFill>
                  <a:srgbClr val="FF0000"/>
                </a:solidFill>
              </a:rPr>
              <a:t> %&gt;% filter(!is.na(CGPA) &amp; !is.na(Depression) &amp; CGPA != 0)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047DDCD-16EF-CB3D-2B83-32C6F032AA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336" y="1610869"/>
            <a:ext cx="10107464" cy="181813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CF2C779-D8BA-9D41-D126-EB950E421E83}"/>
                  </a:ext>
                </a:extLst>
              </p14:cNvPr>
              <p14:cNvContentPartPr/>
              <p14:nvPr/>
            </p14:nvContentPartPr>
            <p14:xfrm>
              <a:off x="1052114" y="4444068"/>
              <a:ext cx="2757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CF2C779-D8BA-9D41-D126-EB950E421E8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98114" y="4336068"/>
                <a:ext cx="3834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1961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31262B9-84B0-C1A5-543C-8FA0F2459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54458" y="3069000"/>
            <a:ext cx="7200000" cy="360000"/>
          </a:xfrm>
        </p:spPr>
        <p:txBody>
          <a:bodyPr/>
          <a:lstStyle/>
          <a:p>
            <a:r>
              <a:rPr lang="en-US" dirty="0"/>
              <a:t>Part 1: VISUALISATION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B5058-8385-6382-3B48-5ADE78EDF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144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E4F5B-D4B0-8884-7F5F-7395AFE85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E914057-BDFA-A5B2-0C63-DA39BB3FD5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9" y="1034819"/>
            <a:ext cx="10567950" cy="360000"/>
          </a:xfrm>
        </p:spPr>
        <p:txBody>
          <a:bodyPr/>
          <a:lstStyle/>
          <a:p>
            <a:r>
              <a:rPr lang="en-US" sz="2800" dirty="0"/>
              <a:t>Difference in mean/median CGPA for depressed/non-depressed students in India</a:t>
            </a:r>
            <a:endParaRPr lang="en-GB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E275A-C4C6-D950-8666-649AA843E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7</a:t>
            </a:fld>
            <a:endParaRPr lang="en-GB"/>
          </a:p>
        </p:txBody>
      </p:sp>
      <p:pic>
        <p:nvPicPr>
          <p:cNvPr id="5" name="Picture 4" descr="A close-up of a number&#10;&#10;AI-generated content may be incorrect.">
            <a:extLst>
              <a:ext uri="{FF2B5EF4-FFF2-40B4-BE49-F238E27FC236}">
                <a16:creationId xmlns:a16="http://schemas.microsoft.com/office/drawing/2014/main" id="{344FD94E-3401-9E76-7B01-19BCCE421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89" y="2143433"/>
            <a:ext cx="8776871" cy="179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843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5" name="CustomShape 2"/>
          <p:cNvSpPr/>
          <p:nvPr/>
        </p:nvSpPr>
        <p:spPr>
          <a:xfrm rot="10800000" flipH="1">
            <a:off x="360" y="360"/>
            <a:ext cx="12191760" cy="1575720"/>
          </a:xfrm>
          <a:prstGeom prst="rect">
            <a:avLst/>
          </a:prstGeom>
          <a:gradFill rotWithShape="0">
            <a:gsLst>
              <a:gs pos="0">
                <a:srgbClr val="000000">
                  <a:alpha val="96078"/>
                </a:srgbClr>
              </a:gs>
              <a:gs pos="100000">
                <a:srgbClr val="77418E"/>
              </a:gs>
            </a:gsLst>
            <a:lin ang="15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6" name="CustomShape 3"/>
          <p:cNvSpPr/>
          <p:nvPr/>
        </p:nvSpPr>
        <p:spPr>
          <a:xfrm>
            <a:off x="0" y="0"/>
            <a:ext cx="8128440" cy="1575000"/>
          </a:xfrm>
          <a:prstGeom prst="rect">
            <a:avLst/>
          </a:prstGeom>
          <a:gradFill rotWithShape="0">
            <a:gsLst>
              <a:gs pos="26000">
                <a:srgbClr val="C49FD3">
                  <a:alpha val="0"/>
                </a:srgbClr>
              </a:gs>
              <a:gs pos="100000">
                <a:srgbClr val="9C5FB5">
                  <a:alpha val="41176"/>
                </a:srgbClr>
              </a:gs>
            </a:gsLst>
            <a:lin ang="19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7" name="CustomShape 4"/>
          <p:cNvSpPr/>
          <p:nvPr/>
        </p:nvSpPr>
        <p:spPr>
          <a:xfrm flipH="1">
            <a:off x="0" y="0"/>
            <a:ext cx="12191760" cy="1573920"/>
          </a:xfrm>
          <a:prstGeom prst="rect">
            <a:avLst/>
          </a:prstGeom>
          <a:gradFill rotWithShape="0">
            <a:gsLst>
              <a:gs pos="22000">
                <a:srgbClr val="9C5FB5">
                  <a:alpha val="15294"/>
                </a:srgbClr>
              </a:gs>
              <a:gs pos="100000">
                <a:srgbClr val="000000">
                  <a:alpha val="63137"/>
                </a:srgbClr>
              </a:gs>
            </a:gsLst>
            <a:lin ang="6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8" name="TextShape 5"/>
          <p:cNvSpPr txBox="1"/>
          <p:nvPr/>
        </p:nvSpPr>
        <p:spPr>
          <a:xfrm>
            <a:off x="290880" y="158400"/>
            <a:ext cx="7063200" cy="11588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b="0" strike="noStrike" spc="-202">
                <a:solidFill>
                  <a:srgbClr val="FFFFFF"/>
                </a:solidFill>
                <a:latin typeface="Arial"/>
              </a:rPr>
              <a:t> </a:t>
            </a:r>
            <a:br/>
            <a:br/>
            <a:endParaRPr lang="en-US" sz="24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109" name="TextShape 6"/>
          <p:cNvSpPr txBox="1"/>
          <p:nvPr/>
        </p:nvSpPr>
        <p:spPr>
          <a:xfrm>
            <a:off x="7354080" y="203882"/>
            <a:ext cx="4705437" cy="11588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ts val="288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GB" sz="3000" b="1" strike="noStrike" spc="-100">
                <a:solidFill>
                  <a:srgbClr val="FFFFFF"/>
                </a:solidFill>
                <a:latin typeface="Arial"/>
              </a:rPr>
              <a:t>Our RQ asks about Differences in means/ medians </a:t>
            </a:r>
            <a:endParaRPr lang="en-US" sz="3000" b="1" strike="noStrike" spc="-1">
              <a:latin typeface="Arial"/>
            </a:endParaRPr>
          </a:p>
        </p:txBody>
      </p:sp>
      <p:sp>
        <p:nvSpPr>
          <p:cNvPr id="110" name="TextShape 7"/>
          <p:cNvSpPr txBox="1"/>
          <p:nvPr/>
        </p:nvSpPr>
        <p:spPr>
          <a:xfrm>
            <a:off x="11704320" y="6455520"/>
            <a:ext cx="4478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r">
              <a:lnSpc>
                <a:spcPct val="100000"/>
              </a:lnSpc>
              <a:spcAft>
                <a:spcPts val="601"/>
              </a:spcAft>
            </a:pPr>
            <a:fld id="{29CEFF96-2F62-4B45-8A43-FC60A0A96C7C}" type="slidenum">
              <a:rPr lang="en-US" sz="1100" b="1" strike="noStrike" spc="-1">
                <a:solidFill>
                  <a:srgbClr val="7DABAB"/>
                </a:solidFill>
                <a:latin typeface="Arial"/>
              </a:rPr>
              <a:t>8</a:t>
            </a:fld>
            <a:endParaRPr lang="en-US" sz="1100" b="0" strike="noStrike" spc="-1">
              <a:latin typeface="Times New Roman"/>
            </a:endParaRPr>
          </a:p>
        </p:txBody>
      </p:sp>
      <p:sp>
        <p:nvSpPr>
          <p:cNvPr id="111" name="CustomShape 8"/>
          <p:cNvSpPr/>
          <p:nvPr/>
        </p:nvSpPr>
        <p:spPr>
          <a:xfrm>
            <a:off x="366120" y="197640"/>
            <a:ext cx="6988320" cy="1187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400" b="0" strike="noStrike" spc="-1" dirty="0">
                <a:solidFill>
                  <a:srgbClr val="FFFFFF"/>
                </a:solidFill>
                <a:latin typeface="Arial"/>
              </a:rPr>
              <a:t>Here is a </a:t>
            </a:r>
            <a:r>
              <a:rPr lang="en-GB" sz="2400" b="1" strike="noStrike" spc="-1" dirty="0">
                <a:solidFill>
                  <a:srgbClr val="FFFFFF"/>
                </a:solidFill>
                <a:latin typeface="Arial"/>
              </a:rPr>
              <a:t>Histogram </a:t>
            </a:r>
            <a:r>
              <a:rPr lang="en-GB" sz="2400" b="0" strike="noStrike" spc="-1" dirty="0">
                <a:solidFill>
                  <a:srgbClr val="FFFFFF"/>
                </a:solidFill>
                <a:latin typeface="Arial"/>
              </a:rPr>
              <a:t>showing the frequencies of our dependent variable to include the normal curve overlay (shown in blue)</a:t>
            </a:r>
            <a:r>
              <a:rPr lang="en-GB" sz="1800" b="0" strike="noStrike" spc="-1" dirty="0">
                <a:solidFill>
                  <a:srgbClr val="203232"/>
                </a:solidFill>
                <a:latin typeface="Arial"/>
              </a:rPr>
              <a:t>.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12" name="CustomShape 9"/>
          <p:cNvSpPr/>
          <p:nvPr/>
        </p:nvSpPr>
        <p:spPr>
          <a:xfrm>
            <a:off x="663300" y="1771244"/>
            <a:ext cx="10865160" cy="488628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dirty="0"/>
          </a:p>
        </p:txBody>
      </p:sp>
      <p:sp>
        <p:nvSpPr>
          <p:cNvPr id="113" name="CustomShape 10"/>
          <p:cNvSpPr/>
          <p:nvPr/>
        </p:nvSpPr>
        <p:spPr>
          <a:xfrm>
            <a:off x="7275870" y="2966577"/>
            <a:ext cx="3846825" cy="175287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 dirty="0">
                <a:solidFill>
                  <a:srgbClr val="203232"/>
                </a:solidFill>
              </a:rPr>
              <a:t>The normal curve overlay </a:t>
            </a:r>
            <a:r>
              <a:rPr lang="en-GB" b="1" i="1" spc="-1" dirty="0">
                <a:solidFill>
                  <a:srgbClr val="203232"/>
                </a:solidFill>
              </a:rPr>
              <a:t>does not follow</a:t>
            </a:r>
            <a:r>
              <a:rPr lang="en-GB" spc="-1" dirty="0">
                <a:solidFill>
                  <a:srgbClr val="203232"/>
                </a:solidFill>
              </a:rPr>
              <a:t> the shape of the underlying data, so we use the non-parametric test that does not assume normality: </a:t>
            </a:r>
            <a:r>
              <a:rPr lang="en-GB" spc="-1" dirty="0">
                <a:solidFill>
                  <a:srgbClr val="0073CF"/>
                </a:solidFill>
              </a:rPr>
              <a:t>Wilcoxon</a:t>
            </a:r>
            <a:r>
              <a:rPr lang="en-GB" spc="-1" dirty="0">
                <a:solidFill>
                  <a:srgbClr val="203232"/>
                </a:solidFill>
              </a:rPr>
              <a:t> also known as the </a:t>
            </a:r>
            <a:r>
              <a:rPr lang="en-GB" spc="-1" dirty="0">
                <a:solidFill>
                  <a:srgbClr val="0073CF"/>
                </a:solidFill>
              </a:rPr>
              <a:t>Mann Whitney U Test.</a:t>
            </a:r>
            <a:endParaRPr lang="en-US" spc="-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CF8965-95F3-E3DD-CF99-AD76067AEF77}"/>
              </a:ext>
            </a:extLst>
          </p:cNvPr>
          <p:cNvSpPr txBox="1"/>
          <p:nvPr/>
        </p:nvSpPr>
        <p:spPr>
          <a:xfrm>
            <a:off x="7275870" y="2092128"/>
            <a:ext cx="318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Histogram - Overall CGPA</a:t>
            </a:r>
          </a:p>
        </p:txBody>
      </p:sp>
      <p:pic>
        <p:nvPicPr>
          <p:cNvPr id="3" name="Picture 2" descr="A graph with blue bars and red line&#10;&#10;AI-generated content may be incorrect.">
            <a:extLst>
              <a:ext uri="{FF2B5EF4-FFF2-40B4-BE49-F238E27FC236}">
                <a16:creationId xmlns:a16="http://schemas.microsoft.com/office/drawing/2014/main" id="{074D5352-A590-4DA8-185E-4409C7B41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72" y="2092128"/>
            <a:ext cx="6145863" cy="42451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4D431B-7665-75B0-2D73-5BD588DCB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2800" y="262288"/>
            <a:ext cx="7176911" cy="230832"/>
          </a:xfrm>
        </p:spPr>
        <p:txBody>
          <a:bodyPr/>
          <a:lstStyle/>
          <a:p>
            <a:r>
              <a:rPr lang="en-GB" dirty="0"/>
              <a:t>PRE 7COM1079-2022  Student Group No:  A 136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5FA15-B17F-387B-E383-5505647AB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08296624-D625-8A51-63F8-EC461F283B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800" y="680046"/>
            <a:ext cx="9781369" cy="230833"/>
          </a:xfrm>
          <a:solidFill>
            <a:schemeClr val="bg2"/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b="0" dirty="0">
                <a:solidFill>
                  <a:srgbClr val="FF0000"/>
                </a:solidFill>
              </a:rPr>
              <a:t>2. Boxplot</a:t>
            </a:r>
            <a:endParaRPr lang="en-GB" b="0" i="1" dirty="0"/>
          </a:p>
        </p:txBody>
      </p:sp>
      <p:pic>
        <p:nvPicPr>
          <p:cNvPr id="6" name="Picture 5" descr="A graph of a comparison of a student's depression status&#10;&#10;AI-generated content may be incorrect.">
            <a:extLst>
              <a:ext uri="{FF2B5EF4-FFF2-40B4-BE49-F238E27FC236}">
                <a16:creationId xmlns:a16="http://schemas.microsoft.com/office/drawing/2014/main" id="{0BE281F0-1C24-884C-CEFA-DF352793D2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31" y="1314336"/>
            <a:ext cx="5842543" cy="40356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1F9D6F-3193-4870-158F-AEA59E2B813F}"/>
              </a:ext>
            </a:extLst>
          </p:cNvPr>
          <p:cNvSpPr txBox="1"/>
          <p:nvPr/>
        </p:nvSpPr>
        <p:spPr>
          <a:xfrm>
            <a:off x="7010400" y="2685820"/>
            <a:ext cx="46730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Outliers have been removed for two records</a:t>
            </a:r>
          </a:p>
          <a:p>
            <a:r>
              <a:rPr lang="en-US" dirty="0">
                <a:solidFill>
                  <a:srgbClr val="FF0000"/>
                </a:solidFill>
              </a:rPr>
              <a:t>where CGPA = 0 for not depressed students</a:t>
            </a:r>
          </a:p>
        </p:txBody>
      </p:sp>
    </p:spTree>
    <p:extLst>
      <p:ext uri="{BB962C8B-B14F-4D97-AF65-F5344CB8AC3E}">
        <p14:creationId xmlns:p14="http://schemas.microsoft.com/office/powerpoint/2010/main" val="2723358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2EC50-20C2-7B69-38C1-802085247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>
            <a:extLst>
              <a:ext uri="{FF2B5EF4-FFF2-40B4-BE49-F238E27FC236}">
                <a16:creationId xmlns:a16="http://schemas.microsoft.com/office/drawing/2014/main" id="{95723682-6F19-C0F8-5C87-99BF972326C5}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5" name="CustomShape 2">
            <a:extLst>
              <a:ext uri="{FF2B5EF4-FFF2-40B4-BE49-F238E27FC236}">
                <a16:creationId xmlns:a16="http://schemas.microsoft.com/office/drawing/2014/main" id="{59CF95D9-2372-DE69-0408-1346F1F53907}"/>
              </a:ext>
            </a:extLst>
          </p:cNvPr>
          <p:cNvSpPr/>
          <p:nvPr/>
        </p:nvSpPr>
        <p:spPr>
          <a:xfrm rot="10800000" flipH="1">
            <a:off x="360" y="360"/>
            <a:ext cx="12191760" cy="1575720"/>
          </a:xfrm>
          <a:prstGeom prst="rect">
            <a:avLst/>
          </a:prstGeom>
          <a:gradFill rotWithShape="0">
            <a:gsLst>
              <a:gs pos="0">
                <a:srgbClr val="000000">
                  <a:alpha val="96078"/>
                </a:srgbClr>
              </a:gs>
              <a:gs pos="100000">
                <a:srgbClr val="77418E"/>
              </a:gs>
            </a:gsLst>
            <a:lin ang="15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6" name="CustomShape 3">
            <a:extLst>
              <a:ext uri="{FF2B5EF4-FFF2-40B4-BE49-F238E27FC236}">
                <a16:creationId xmlns:a16="http://schemas.microsoft.com/office/drawing/2014/main" id="{BD5A8D64-CCFD-5306-83D4-7AB5615B272E}"/>
              </a:ext>
            </a:extLst>
          </p:cNvPr>
          <p:cNvSpPr/>
          <p:nvPr/>
        </p:nvSpPr>
        <p:spPr>
          <a:xfrm>
            <a:off x="0" y="0"/>
            <a:ext cx="8128440" cy="1575000"/>
          </a:xfrm>
          <a:prstGeom prst="rect">
            <a:avLst/>
          </a:prstGeom>
          <a:gradFill rotWithShape="0">
            <a:gsLst>
              <a:gs pos="26000">
                <a:srgbClr val="C49FD3">
                  <a:alpha val="0"/>
                </a:srgbClr>
              </a:gs>
              <a:gs pos="100000">
                <a:srgbClr val="9C5FB5">
                  <a:alpha val="41176"/>
                </a:srgbClr>
              </a:gs>
            </a:gsLst>
            <a:lin ang="19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7" name="CustomShape 4">
            <a:extLst>
              <a:ext uri="{FF2B5EF4-FFF2-40B4-BE49-F238E27FC236}">
                <a16:creationId xmlns:a16="http://schemas.microsoft.com/office/drawing/2014/main" id="{2A4E58ED-0DC3-CBD2-50C2-6F69EAD79684}"/>
              </a:ext>
            </a:extLst>
          </p:cNvPr>
          <p:cNvSpPr/>
          <p:nvPr/>
        </p:nvSpPr>
        <p:spPr>
          <a:xfrm flipH="1">
            <a:off x="0" y="0"/>
            <a:ext cx="12191760" cy="1573920"/>
          </a:xfrm>
          <a:prstGeom prst="rect">
            <a:avLst/>
          </a:prstGeom>
          <a:gradFill rotWithShape="0">
            <a:gsLst>
              <a:gs pos="22000">
                <a:srgbClr val="9C5FB5">
                  <a:alpha val="15294"/>
                </a:srgbClr>
              </a:gs>
              <a:gs pos="100000">
                <a:srgbClr val="000000">
                  <a:alpha val="63137"/>
                </a:srgbClr>
              </a:gs>
            </a:gsLst>
            <a:lin ang="6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8" name="TextShape 5">
            <a:extLst>
              <a:ext uri="{FF2B5EF4-FFF2-40B4-BE49-F238E27FC236}">
                <a16:creationId xmlns:a16="http://schemas.microsoft.com/office/drawing/2014/main" id="{825EE3B4-3C83-3502-3A72-040B53047745}"/>
              </a:ext>
            </a:extLst>
          </p:cNvPr>
          <p:cNvSpPr txBox="1"/>
          <p:nvPr/>
        </p:nvSpPr>
        <p:spPr>
          <a:xfrm>
            <a:off x="290880" y="158400"/>
            <a:ext cx="7063200" cy="11588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b="0" strike="noStrike" spc="-202">
                <a:solidFill>
                  <a:srgbClr val="FFFFFF"/>
                </a:solidFill>
                <a:latin typeface="Arial"/>
              </a:rPr>
              <a:t> </a:t>
            </a:r>
            <a:br/>
            <a:br/>
            <a:endParaRPr lang="en-US" sz="24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109" name="TextShape 6">
            <a:extLst>
              <a:ext uri="{FF2B5EF4-FFF2-40B4-BE49-F238E27FC236}">
                <a16:creationId xmlns:a16="http://schemas.microsoft.com/office/drawing/2014/main" id="{5C90A7C8-C960-5586-0BD8-8EC12E0665C0}"/>
              </a:ext>
            </a:extLst>
          </p:cNvPr>
          <p:cNvSpPr txBox="1"/>
          <p:nvPr/>
        </p:nvSpPr>
        <p:spPr>
          <a:xfrm>
            <a:off x="7354080" y="203882"/>
            <a:ext cx="4705437" cy="11588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ts val="288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GB" sz="3000" b="1" strike="noStrike" spc="-100">
                <a:solidFill>
                  <a:srgbClr val="FFFFFF"/>
                </a:solidFill>
                <a:latin typeface="Arial"/>
              </a:rPr>
              <a:t>Our RQ asks about Differences in means/ medians </a:t>
            </a:r>
            <a:endParaRPr lang="en-US" sz="3000" b="1" strike="noStrike" spc="-1">
              <a:latin typeface="Arial"/>
            </a:endParaRPr>
          </a:p>
        </p:txBody>
      </p:sp>
      <p:sp>
        <p:nvSpPr>
          <p:cNvPr id="110" name="TextShape 7">
            <a:extLst>
              <a:ext uri="{FF2B5EF4-FFF2-40B4-BE49-F238E27FC236}">
                <a16:creationId xmlns:a16="http://schemas.microsoft.com/office/drawing/2014/main" id="{09A008A0-19C1-1AE3-5B7D-247605B7AD69}"/>
              </a:ext>
            </a:extLst>
          </p:cNvPr>
          <p:cNvSpPr txBox="1"/>
          <p:nvPr/>
        </p:nvSpPr>
        <p:spPr>
          <a:xfrm>
            <a:off x="11704320" y="6455520"/>
            <a:ext cx="4478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r">
              <a:lnSpc>
                <a:spcPct val="100000"/>
              </a:lnSpc>
              <a:spcAft>
                <a:spcPts val="601"/>
              </a:spcAft>
            </a:pPr>
            <a:fld id="{29CEFF96-2F62-4B45-8A43-FC60A0A96C7C}" type="slidenum">
              <a:rPr lang="en-US" sz="1100" b="1" strike="noStrike" spc="-1">
                <a:solidFill>
                  <a:srgbClr val="7DABAB"/>
                </a:solidFill>
                <a:latin typeface="Arial"/>
              </a:rPr>
              <a:t>10</a:t>
            </a:fld>
            <a:endParaRPr lang="en-US" sz="1100" b="0" strike="noStrike" spc="-1">
              <a:latin typeface="Times New Roman"/>
            </a:endParaRPr>
          </a:p>
        </p:txBody>
      </p:sp>
      <p:sp>
        <p:nvSpPr>
          <p:cNvPr id="111" name="CustomShape 8">
            <a:extLst>
              <a:ext uri="{FF2B5EF4-FFF2-40B4-BE49-F238E27FC236}">
                <a16:creationId xmlns:a16="http://schemas.microsoft.com/office/drawing/2014/main" id="{83CDF2D2-C842-B56D-4257-CD462A178F28}"/>
              </a:ext>
            </a:extLst>
          </p:cNvPr>
          <p:cNvSpPr/>
          <p:nvPr/>
        </p:nvSpPr>
        <p:spPr>
          <a:xfrm>
            <a:off x="366120" y="197640"/>
            <a:ext cx="6988320" cy="1187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400" b="0" strike="noStrike" spc="-1" dirty="0">
                <a:solidFill>
                  <a:srgbClr val="FFFFFF"/>
                </a:solidFill>
                <a:latin typeface="Arial"/>
              </a:rPr>
              <a:t>Here is a </a:t>
            </a:r>
            <a:r>
              <a:rPr lang="en-GB" sz="2400" b="1" strike="noStrike" spc="-1" dirty="0">
                <a:solidFill>
                  <a:srgbClr val="FFFFFF"/>
                </a:solidFill>
                <a:latin typeface="Arial"/>
              </a:rPr>
              <a:t>Histogram </a:t>
            </a:r>
            <a:r>
              <a:rPr lang="en-GB" sz="2400" b="0" strike="noStrike" spc="-1" dirty="0">
                <a:solidFill>
                  <a:srgbClr val="FFFFFF"/>
                </a:solidFill>
                <a:latin typeface="Arial"/>
              </a:rPr>
              <a:t>showing the frequencies of our dependent variable to include the normal curve overlay (shown in blue)</a:t>
            </a:r>
            <a:r>
              <a:rPr lang="en-GB" sz="1800" b="0" strike="noStrike" spc="-1" dirty="0">
                <a:solidFill>
                  <a:srgbClr val="203232"/>
                </a:solidFill>
                <a:latin typeface="Arial"/>
              </a:rPr>
              <a:t>.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12" name="CustomShape 9">
            <a:extLst>
              <a:ext uri="{FF2B5EF4-FFF2-40B4-BE49-F238E27FC236}">
                <a16:creationId xmlns:a16="http://schemas.microsoft.com/office/drawing/2014/main" id="{8EBC55C2-0DD7-D3F0-F69E-D14FEFBFDF3B}"/>
              </a:ext>
            </a:extLst>
          </p:cNvPr>
          <p:cNvSpPr/>
          <p:nvPr/>
        </p:nvSpPr>
        <p:spPr>
          <a:xfrm>
            <a:off x="632472" y="1731961"/>
            <a:ext cx="10865160" cy="488628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just">
              <a:lnSpc>
                <a:spcPct val="100000"/>
              </a:lnSpc>
            </a:pPr>
            <a:endParaRPr lang="en-US" spc="-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B8C849-0CC6-2347-D7BF-1BC0FDE77170}"/>
              </a:ext>
            </a:extLst>
          </p:cNvPr>
          <p:cNvSpPr txBox="1"/>
          <p:nvPr/>
        </p:nvSpPr>
        <p:spPr>
          <a:xfrm>
            <a:off x="2972007" y="1943700"/>
            <a:ext cx="6247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Piechart</a:t>
            </a:r>
            <a:r>
              <a:rPr lang="en-US" dirty="0"/>
              <a:t> of Depressed and Non-depressed students</a:t>
            </a:r>
          </a:p>
        </p:txBody>
      </p:sp>
      <p:pic>
        <p:nvPicPr>
          <p:cNvPr id="4" name="Picture 3" descr="A pie chart with a red circle and blue circle&#10;&#10;AI-generated content may be incorrect.">
            <a:extLst>
              <a:ext uri="{FF2B5EF4-FFF2-40B4-BE49-F238E27FC236}">
                <a16:creationId xmlns:a16="http://schemas.microsoft.com/office/drawing/2014/main" id="{E3C9DF46-F873-4FAD-34A5-77186279F3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2593" y="2497605"/>
            <a:ext cx="7443019" cy="3687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343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3BCDAA3-A3AD-A880-5E9C-0E1ABBC0A4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92167" y="2997174"/>
            <a:ext cx="4375084" cy="1060297"/>
          </a:xfrm>
        </p:spPr>
        <p:txBody>
          <a:bodyPr/>
          <a:lstStyle/>
          <a:p>
            <a:r>
              <a:rPr lang="en-US" dirty="0"/>
              <a:t>Part 2: Analysis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BD585-11D8-30FD-4A30-9F1639F0D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321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Shape 1"/>
          <p:cNvSpPr txBox="1"/>
          <p:nvPr/>
        </p:nvSpPr>
        <p:spPr>
          <a:xfrm>
            <a:off x="965160" y="790920"/>
            <a:ext cx="717660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500" b="0" strike="noStrike" spc="-1">
                <a:solidFill>
                  <a:srgbClr val="B3B9B9"/>
                </a:solidFill>
                <a:latin typeface="Arial"/>
              </a:rPr>
              <a:t>PRE 7COM1079-2022  Student Group No:  ?????</a:t>
            </a:r>
            <a:endParaRPr lang="en-US" sz="1500" b="0" strike="noStrike" spc="-1">
              <a:latin typeface="Times New Roman"/>
            </a:endParaRPr>
          </a:p>
        </p:txBody>
      </p:sp>
      <p:sp>
        <p:nvSpPr>
          <p:cNvPr id="136" name="TextShape 2"/>
          <p:cNvSpPr txBox="1"/>
          <p:nvPr/>
        </p:nvSpPr>
        <p:spPr>
          <a:xfrm>
            <a:off x="10616400" y="790920"/>
            <a:ext cx="62244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ADC5D68A-648F-4923-B6A1-749DE04AEFFA}" type="slidenum">
              <a:rPr lang="en-GB" sz="1500" b="1" strike="noStrike" spc="-1">
                <a:solidFill>
                  <a:srgbClr val="B3B9B9"/>
                </a:solidFill>
                <a:latin typeface="Arial"/>
              </a:rPr>
              <a:t>12</a:t>
            </a:fld>
            <a:endParaRPr lang="en-US" sz="1500" b="0" strike="noStrike" spc="-1">
              <a:latin typeface="Times New Roman"/>
            </a:endParaRPr>
          </a:p>
        </p:txBody>
      </p:sp>
      <p:sp>
        <p:nvSpPr>
          <p:cNvPr id="137" name="TextShape 3"/>
          <p:cNvSpPr txBox="1"/>
          <p:nvPr/>
        </p:nvSpPr>
        <p:spPr>
          <a:xfrm>
            <a:off x="952919" y="385588"/>
            <a:ext cx="10815527" cy="66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GB" sz="3600" b="1" strike="noStrike" spc="-100" dirty="0">
                <a:solidFill>
                  <a:srgbClr val="203232"/>
                </a:solidFill>
                <a:latin typeface="Arial"/>
              </a:rPr>
              <a:t>R Script and Results (independent T test) – The Analysis</a:t>
            </a:r>
            <a:endParaRPr lang="en-US" sz="3600" b="1" strike="noStrike" spc="-1" dirty="0">
              <a:latin typeface="Arial"/>
            </a:endParaRPr>
          </a:p>
          <a:p>
            <a:pPr>
              <a:lnSpc>
                <a:spcPct val="100000"/>
              </a:lnSpc>
              <a:spcAft>
                <a:spcPts val="992"/>
              </a:spcAft>
              <a:tabLst>
                <a:tab pos="0" algn="l"/>
              </a:tabLst>
            </a:pPr>
            <a:endParaRPr lang="en-US" sz="2400" b="0" strike="noStrike" spc="-1" dirty="0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BC67A1-346D-734F-321E-2098D1481674}"/>
              </a:ext>
            </a:extLst>
          </p:cNvPr>
          <p:cNvSpPr txBox="1"/>
          <p:nvPr/>
        </p:nvSpPr>
        <p:spPr>
          <a:xfrm>
            <a:off x="819336" y="1562895"/>
            <a:ext cx="11235012" cy="15696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0000"/>
                </a:solidFill>
              </a:rPr>
              <a:t># Statistical Tests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0000"/>
                </a:solidFill>
              </a:rPr>
              <a:t># Wilcoxon Rank-Sum </a:t>
            </a:r>
            <a:r>
              <a:rPr lang="en-GB" sz="2400" dirty="0" err="1">
                <a:solidFill>
                  <a:srgbClr val="FF0000"/>
                </a:solidFill>
              </a:rPr>
              <a:t>Testprint</a:t>
            </a:r>
            <a:r>
              <a:rPr lang="en-GB" sz="2400" dirty="0">
                <a:solidFill>
                  <a:srgbClr val="FF0000"/>
                </a:solidFill>
              </a:rPr>
              <a:t>("Wilcoxon Rank-Sum Test:")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 err="1">
                <a:solidFill>
                  <a:srgbClr val="FF0000"/>
                </a:solidFill>
              </a:rPr>
              <a:t>wilcox_test_result</a:t>
            </a:r>
            <a:r>
              <a:rPr lang="en-GB" sz="2400" dirty="0">
                <a:solidFill>
                  <a:srgbClr val="FF0000"/>
                </a:solidFill>
              </a:rPr>
              <a:t> &lt;- </a:t>
            </a:r>
            <a:r>
              <a:rPr lang="en-GB" sz="2400" dirty="0" err="1">
                <a:solidFill>
                  <a:srgbClr val="FF0000"/>
                </a:solidFill>
              </a:rPr>
              <a:t>wilcox.test</a:t>
            </a:r>
            <a:r>
              <a:rPr lang="en-GB" sz="2400" dirty="0">
                <a:solidFill>
                  <a:srgbClr val="FF0000"/>
                </a:solidFill>
              </a:rPr>
              <a:t>(CGPA ~ Depression, data = </a:t>
            </a:r>
            <a:r>
              <a:rPr lang="en-GB" sz="2400" dirty="0" err="1">
                <a:solidFill>
                  <a:srgbClr val="FF0000"/>
                </a:solidFill>
              </a:rPr>
              <a:t>data_clean</a:t>
            </a:r>
            <a:r>
              <a:rPr lang="en-GB" sz="2400" dirty="0">
                <a:solidFill>
                  <a:srgbClr val="FF0000"/>
                </a:solidFill>
              </a:rPr>
              <a:t>)print(</a:t>
            </a:r>
            <a:r>
              <a:rPr lang="en-GB" sz="2400" dirty="0" err="1">
                <a:solidFill>
                  <a:srgbClr val="FF0000"/>
                </a:solidFill>
              </a:rPr>
              <a:t>wilcox_test_result</a:t>
            </a:r>
            <a:r>
              <a:rPr lang="en-GB" sz="2400" dirty="0">
                <a:solidFill>
                  <a:srgbClr val="FF0000"/>
                </a:solidFill>
              </a:rPr>
              <a:t>)</a:t>
            </a:r>
          </a:p>
        </p:txBody>
      </p:sp>
      <p:pic>
        <p:nvPicPr>
          <p:cNvPr id="4" name="Picture 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E3A5AA7B-101F-514A-E4F1-44D0E146E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552" y="3272731"/>
            <a:ext cx="10698180" cy="224316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2B189-AFC0-1037-2F87-DF74850B0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Shape 1">
            <a:extLst>
              <a:ext uri="{FF2B5EF4-FFF2-40B4-BE49-F238E27FC236}">
                <a16:creationId xmlns:a16="http://schemas.microsoft.com/office/drawing/2014/main" id="{7D4F4D67-6B3E-5994-9D04-FB89FD5D4BD1}"/>
              </a:ext>
            </a:extLst>
          </p:cNvPr>
          <p:cNvSpPr txBox="1"/>
          <p:nvPr/>
        </p:nvSpPr>
        <p:spPr>
          <a:xfrm>
            <a:off x="965160" y="790920"/>
            <a:ext cx="717660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500" b="0" strike="noStrike" spc="-1">
                <a:solidFill>
                  <a:srgbClr val="B3B9B9"/>
                </a:solidFill>
                <a:latin typeface="Arial"/>
              </a:rPr>
              <a:t>PRE 7COM1079-2022  Student Group No:  ?????</a:t>
            </a:r>
            <a:endParaRPr lang="en-US" sz="1500" b="0" strike="noStrike" spc="-1">
              <a:latin typeface="Times New Roman"/>
            </a:endParaRPr>
          </a:p>
        </p:txBody>
      </p:sp>
      <p:sp>
        <p:nvSpPr>
          <p:cNvPr id="136" name="TextShape 2">
            <a:extLst>
              <a:ext uri="{FF2B5EF4-FFF2-40B4-BE49-F238E27FC236}">
                <a16:creationId xmlns:a16="http://schemas.microsoft.com/office/drawing/2014/main" id="{98C88DF6-BD0C-C525-0195-619E5F7AFBDB}"/>
              </a:ext>
            </a:extLst>
          </p:cNvPr>
          <p:cNvSpPr txBox="1"/>
          <p:nvPr/>
        </p:nvSpPr>
        <p:spPr>
          <a:xfrm>
            <a:off x="10616400" y="790920"/>
            <a:ext cx="62244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ADC5D68A-648F-4923-B6A1-749DE04AEFFA}" type="slidenum">
              <a:rPr lang="en-GB" sz="1500" b="1" strike="noStrike" spc="-1">
                <a:solidFill>
                  <a:srgbClr val="B3B9B9"/>
                </a:solidFill>
                <a:latin typeface="Arial"/>
              </a:rPr>
              <a:t>13</a:t>
            </a:fld>
            <a:endParaRPr lang="en-US" sz="1500" b="0" strike="noStrike" spc="-1">
              <a:latin typeface="Times New Roman"/>
            </a:endParaRPr>
          </a:p>
        </p:txBody>
      </p:sp>
      <p:sp>
        <p:nvSpPr>
          <p:cNvPr id="137" name="TextShape 3">
            <a:extLst>
              <a:ext uri="{FF2B5EF4-FFF2-40B4-BE49-F238E27FC236}">
                <a16:creationId xmlns:a16="http://schemas.microsoft.com/office/drawing/2014/main" id="{48DA6604-31F0-AD8D-4B1F-A6290B98D48F}"/>
              </a:ext>
            </a:extLst>
          </p:cNvPr>
          <p:cNvSpPr txBox="1"/>
          <p:nvPr/>
        </p:nvSpPr>
        <p:spPr>
          <a:xfrm>
            <a:off x="952919" y="385588"/>
            <a:ext cx="10815527" cy="66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GB" sz="3600" b="1" strike="noStrike" spc="-100" dirty="0">
                <a:solidFill>
                  <a:srgbClr val="203232"/>
                </a:solidFill>
                <a:latin typeface="Arial"/>
              </a:rPr>
              <a:t>R Script and Results  (Wilcoxon) – The Analysis</a:t>
            </a:r>
            <a:endParaRPr lang="en-US" sz="3600" b="1" strike="noStrike" spc="-1" dirty="0">
              <a:latin typeface="Arial"/>
            </a:endParaRPr>
          </a:p>
          <a:p>
            <a:pPr>
              <a:lnSpc>
                <a:spcPct val="100000"/>
              </a:lnSpc>
              <a:spcAft>
                <a:spcPts val="992"/>
              </a:spcAft>
              <a:tabLst>
                <a:tab pos="0" algn="l"/>
              </a:tabLst>
            </a:pPr>
            <a:endParaRPr lang="en-US" sz="2400" b="0" strike="noStrike" spc="-1" dirty="0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A31144-C628-EF3B-BEFB-27BC34C67132}"/>
              </a:ext>
            </a:extLst>
          </p:cNvPr>
          <p:cNvSpPr txBox="1"/>
          <p:nvPr/>
        </p:nvSpPr>
        <p:spPr>
          <a:xfrm>
            <a:off x="827188" y="906120"/>
            <a:ext cx="11066988" cy="60016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2400" spc="-202" dirty="0">
              <a:solidFill>
                <a:srgbClr val="FF0000"/>
              </a:solidFill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p-value</a:t>
            </a:r>
            <a:r>
              <a:rPr lang="en-US" sz="2400" dirty="0">
                <a:latin typeface="+mj-lt"/>
              </a:rPr>
              <a:t> = </a:t>
            </a:r>
            <a:r>
              <a:rPr lang="en-US" sz="2400" dirty="0"/>
              <a:t>0.0003097</a:t>
            </a:r>
            <a:r>
              <a:rPr lang="en-US" dirty="0"/>
              <a:t> </a:t>
            </a:r>
            <a:r>
              <a:rPr lang="en-US" sz="2400" b="0" strike="noStrike" spc="-202" dirty="0">
                <a:solidFill>
                  <a:srgbClr val="203232"/>
                </a:solidFill>
                <a:latin typeface="+mj-lt"/>
              </a:rPr>
              <a:t>&lt; 0.05 </a:t>
            </a:r>
            <a:r>
              <a:rPr lang="en-US" sz="2400" spc="-202" dirty="0">
                <a:solidFill>
                  <a:srgbClr val="203232"/>
                </a:solidFill>
              </a:rPr>
              <a:t>(The result is significant)</a:t>
            </a:r>
            <a:endParaRPr lang="en-US" sz="2400" b="0" strike="noStrike" spc="-202" dirty="0">
              <a:solidFill>
                <a:srgbClr val="203232"/>
              </a:solidFill>
              <a:latin typeface="+mj-lt"/>
            </a:endParaRPr>
          </a:p>
          <a:p>
            <a:endParaRPr lang="en-US" sz="2400" b="0" strike="noStrike" spc="-202" dirty="0">
              <a:solidFill>
                <a:srgbClr val="203232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Null hypothesis (H0): There 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no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difference in the median student academic score (Cumulative Grade Point Average(CGPA)) among depressed and non-depressed University students in India. ​</a:t>
            </a:r>
            <a:br>
              <a:rPr lang="en-US" sz="2400" dirty="0">
                <a:solidFill>
                  <a:srgbClr val="FF0000"/>
                </a:solidFill>
                <a:latin typeface="+mj-lt"/>
              </a:rPr>
            </a:br>
            <a:r>
              <a:rPr lang="en-US" sz="2400" dirty="0">
                <a:solidFill>
                  <a:srgbClr val="FF0000"/>
                </a:solidFill>
                <a:latin typeface="+mj-lt"/>
              </a:rPr>
              <a:t>​</a:t>
            </a:r>
            <a:br>
              <a:rPr lang="en-US" sz="2400" dirty="0">
                <a:solidFill>
                  <a:srgbClr val="FF0000"/>
                </a:solidFill>
                <a:latin typeface="+mj-lt"/>
              </a:rPr>
            </a:br>
            <a:r>
              <a:rPr lang="en-US" sz="2400" dirty="0">
                <a:solidFill>
                  <a:srgbClr val="FF0000"/>
                </a:solidFill>
                <a:latin typeface="+mj-lt"/>
              </a:rPr>
              <a:t>Alt hypothesis (H1): </a:t>
            </a:r>
            <a:r>
              <a:rPr lang="en-US" sz="2400" dirty="0">
                <a:solidFill>
                  <a:srgbClr val="FF0000"/>
                </a:solidFill>
              </a:rPr>
              <a:t>There is a difference in the median student academic score (Cumulative Grade Point Average(CGPA)) among depressed and non-depressed University students in India. ​</a:t>
            </a:r>
            <a:br>
              <a:rPr lang="en-US" sz="2400" dirty="0">
                <a:solidFill>
                  <a:srgbClr val="FF0000"/>
                </a:solidFill>
              </a:rPr>
            </a:br>
            <a:endParaRPr lang="en-US" sz="2400" b="0" strike="noStrike" spc="-202" dirty="0">
              <a:solidFill>
                <a:srgbClr val="203232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spc="-202" dirty="0">
                <a:solidFill>
                  <a:srgbClr val="203232"/>
                </a:solidFill>
                <a:latin typeface="+mj-lt"/>
              </a:rPr>
              <a:t>Reject the null hypothesis. There is a different in the median academic score(CGPA) between depressed and non-depressed University students in India.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spc="-202" dirty="0">
              <a:solidFill>
                <a:srgbClr val="203232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spc="-202" dirty="0">
                <a:solidFill>
                  <a:srgbClr val="203232"/>
                </a:solidFill>
                <a:latin typeface="+mj-lt"/>
              </a:rPr>
              <a:t>Depressed students in India perform better academically in terms of their Cumulative Grade Point Average (CGPA) compared to non-depressed students.</a:t>
            </a:r>
          </a:p>
        </p:txBody>
      </p:sp>
    </p:spTree>
    <p:extLst>
      <p:ext uri="{BB962C8B-B14F-4D97-AF65-F5344CB8AC3E}">
        <p14:creationId xmlns:p14="http://schemas.microsoft.com/office/powerpoint/2010/main" val="3596274778"/>
      </p:ext>
    </p:extLst>
  </p:cSld>
  <p:clrMapOvr>
    <a:masterClrMapping/>
  </p:clrMapOvr>
</p:sld>
</file>

<file path=ppt/theme/theme1.xml><?xml version="1.0" encoding="utf-8"?>
<a:theme xmlns:a="http://schemas.openxmlformats.org/drawingml/2006/main" name="Herts Theme">
  <a:themeElements>
    <a:clrScheme name="Custom 2">
      <a:dk1>
        <a:srgbClr val="203232"/>
      </a:dk1>
      <a:lt1>
        <a:srgbClr val="FFFFFF"/>
      </a:lt1>
      <a:dk2>
        <a:srgbClr val="203232"/>
      </a:dk2>
      <a:lt2>
        <a:srgbClr val="FFFFFF"/>
      </a:lt2>
      <a:accent1>
        <a:srgbClr val="9C5FB5"/>
      </a:accent1>
      <a:accent2>
        <a:srgbClr val="00B9E4"/>
      </a:accent2>
      <a:accent3>
        <a:srgbClr val="F53F5B"/>
      </a:accent3>
      <a:accent4>
        <a:srgbClr val="0073CF"/>
      </a:accent4>
      <a:accent5>
        <a:srgbClr val="45B382"/>
      </a:accent5>
      <a:accent6>
        <a:srgbClr val="FFCF20"/>
      </a:accent6>
      <a:hlink>
        <a:srgbClr val="0073CF"/>
      </a:hlink>
      <a:folHlink>
        <a:srgbClr val="9C5FB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DBA85F447B164191BB36C258697B67" ma:contentTypeVersion="14" ma:contentTypeDescription="Create a new document." ma:contentTypeScope="" ma:versionID="ea511d05ca7f895fe9556935b5c9af34">
  <xsd:schema xmlns:xsd="http://www.w3.org/2001/XMLSchema" xmlns:xs="http://www.w3.org/2001/XMLSchema" xmlns:p="http://schemas.microsoft.com/office/2006/metadata/properties" xmlns:ns2="4ad138b4-2b68-4b70-945d-07f8f18b1c9a" xmlns:ns3="3c474641-ec36-472f-b125-6b1b0910eaa4" targetNamespace="http://schemas.microsoft.com/office/2006/metadata/properties" ma:root="true" ma:fieldsID="662270106d7a7e100bcac2c5f8d29899" ns2:_="" ns3:_="">
    <xsd:import namespace="4ad138b4-2b68-4b70-945d-07f8f18b1c9a"/>
    <xsd:import namespace="3c474641-ec36-472f-b125-6b1b0910ea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Informa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d138b4-2b68-4b70-945d-07f8f18b1c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Information" ma:index="12" nillable="true" ma:displayName="Information" ma:format="Dropdown" ma:internalName="Information">
      <xsd:simpleType>
        <xsd:restriction base="dms:Text">
          <xsd:maxLength value="255"/>
        </xsd:restriction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474641-ec36-472f-b125-6b1b0910eaa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formation xmlns="4ad138b4-2b68-4b70-945d-07f8f18b1c9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21B8C57-903D-4D0E-8336-7B512F760CD1}">
  <ds:schemaRefs>
    <ds:schemaRef ds:uri="3c474641-ec36-472f-b125-6b1b0910eaa4"/>
    <ds:schemaRef ds:uri="4ad138b4-2b68-4b70-945d-07f8f18b1c9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DD1FC41-23C7-41B0-B5F9-BF4CD38AD2ED}">
  <ds:schemaRefs>
    <ds:schemaRef ds:uri="3c474641-ec36-472f-b125-6b1b0910eaa4"/>
    <ds:schemaRef ds:uri="4ad138b4-2b68-4b70-945d-07f8f18b1c9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1C521DD-2673-4EE6-BB9B-DC5C3320FFB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2853</TotalTime>
  <Words>790</Words>
  <Application>Microsoft Office PowerPoint</Application>
  <PresentationFormat>Widescreen</PresentationFormat>
  <Paragraphs>95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Segoe UI</vt:lpstr>
      <vt:lpstr>Times New Roman</vt:lpstr>
      <vt:lpstr>Herts Theme</vt:lpstr>
      <vt:lpstr>Visualization and Analysis –  Tutorial Presentation for Feedback Date:  11/22/2025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Joanne Harwood</dc:creator>
  <cp:lastModifiedBy>Aroosha Rasheed [Student-PECS]</cp:lastModifiedBy>
  <cp:revision>132</cp:revision>
  <dcterms:created xsi:type="dcterms:W3CDTF">2019-10-01T08:37:56Z</dcterms:created>
  <dcterms:modified xsi:type="dcterms:W3CDTF">2025-12-08T17:05:16Z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0x01010026DBA85F447B164191BB36C258697B67</vt:lpwstr>
  </property>
</Properties>
</file>