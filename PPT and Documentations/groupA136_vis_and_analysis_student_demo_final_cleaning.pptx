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ink/ink2.xml" ContentType="application/inkml+xml"/>
  <Override PartName="/ppt/notesSlides/notesSlide3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notesSlides/notesSlide4.xml" ContentType="application/vnd.openxmlformats-officedocument.presentationml.notesSlide+xml"/>
  <Override PartName="/ppt/ink/ink5.xml" ContentType="application/inkml+xml"/>
  <Override PartName="/ppt/ink/ink6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89" r:id="rId5"/>
    <p:sldId id="329" r:id="rId6"/>
    <p:sldId id="347" r:id="rId7"/>
    <p:sldId id="355" r:id="rId8"/>
    <p:sldId id="357" r:id="rId9"/>
    <p:sldId id="341" r:id="rId10"/>
    <p:sldId id="352" r:id="rId11"/>
    <p:sldId id="259" r:id="rId12"/>
    <p:sldId id="340" r:id="rId13"/>
    <p:sldId id="351" r:id="rId14"/>
    <p:sldId id="342" r:id="rId15"/>
    <p:sldId id="262" r:id="rId16"/>
    <p:sldId id="35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4660"/>
  </p:normalViewPr>
  <p:slideViewPr>
    <p:cSldViewPr snapToGrid="0">
      <p:cViewPr varScale="1">
        <p:scale>
          <a:sx n="78" d="100"/>
          <a:sy n="78" d="100"/>
        </p:scale>
        <p:origin x="715" y="43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09/12/2025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7T03:36:02.7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845 1,'-9'1,"1"0,0 1,0 0,0 0,1 1,-14 5,-14 6,-7-1,0-2,-1-1,-1-3,-61 4,-337-14,419 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7T03:35:22.95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0,'765'0'0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09/12/2025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43263-7B7F-9669-8C74-54BD783A1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AF9180-8333-4707-E031-7BA805E9E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1D82B-21FD-4588-7EA3-72B3F980E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12444-4EE2-3565-F6CC-E32814525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0823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EE6F2-0EF8-0287-27F0-CD4D84869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177A5-7B20-7FF7-09DC-36750645C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24C131-EA35-B27B-7CB7-BB00A3A0E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9C5AC-6599-2CBF-F326-FDA08DCA2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2798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6EADD-41E9-75E1-B945-CC66CAC26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308E2-EF07-0537-C632-4F38C092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CA1534-6C37-6E8B-58F1-9299C93E7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9D110-CB82-5D03-1405-430DB37131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06587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45707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12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DF9EA-333F-3A4F-1319-49836C992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24090A4B-994C-5B52-E294-918099E63C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EF66D1F8-8FF0-B382-082E-2B2EA2CC835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>
            <a:extLst>
              <a:ext uri="{FF2B5EF4-FFF2-40B4-BE49-F238E27FC236}">
                <a16:creationId xmlns:a16="http://schemas.microsoft.com/office/drawing/2014/main" id="{91034AA0-84DC-81D3-6B95-78FD17FA7A63}"/>
              </a:ext>
            </a:extLst>
          </p:cNvPr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13</a:t>
            </a:fld>
            <a:endParaRPr lang="en-US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5228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0370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  <p:sldLayoutId id="2147483724" r:id="rId14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e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4.xml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6.xml"/><Relationship Id="rId5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Visualization and Analysis – </a:t>
            </a:r>
            <a:br>
              <a:rPr lang="en-US" dirty="0"/>
            </a:br>
            <a:r>
              <a:rPr lang="en-US" sz="4000" dirty="0"/>
              <a:t>Tutorial Presentation for Feedback</a:t>
            </a:r>
            <a:br>
              <a:rPr lang="en-US" sz="4000" dirty="0"/>
            </a:br>
            <a:r>
              <a:rPr lang="en-US" sz="2200" dirty="0"/>
              <a:t>Date:  11/22/2025</a:t>
            </a:r>
            <a:br>
              <a:rPr lang="en-US" sz="8000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10567440" cy="360000"/>
          </a:xfrm>
        </p:spPr>
        <p:txBody>
          <a:bodyPr/>
          <a:lstStyle/>
          <a:p>
            <a:r>
              <a:rPr lang="en-US" sz="2000" dirty="0"/>
              <a:t>Group Id: A 136                                                          Name of Student Presenting:  Aroosha Rasheed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274320"/>
            <a:ext cx="10455567" cy="736245"/>
          </a:xfrm>
        </p:spPr>
        <p:txBody>
          <a:bodyPr/>
          <a:lstStyle/>
          <a:p>
            <a:r>
              <a:rPr lang="en-GB" dirty="0"/>
              <a:t>7COM1079-2025  Student Group No: A 136               </a:t>
            </a:r>
          </a:p>
          <a:p>
            <a:r>
              <a:rPr lang="en-GB" dirty="0"/>
              <a:t>Names of Student Attendees: Aroosha Rasheed (24105689), AbdulRasheed Ibrahim(</a:t>
            </a:r>
            <a:r>
              <a:rPr lang="en-US" dirty="0"/>
              <a:t>24158550</a:t>
            </a:r>
            <a:r>
              <a:rPr lang="en-GB" dirty="0"/>
              <a:t>), Sayan Sen(</a:t>
            </a:r>
            <a:r>
              <a:rPr lang="en-US" dirty="0"/>
              <a:t>24146068</a:t>
            </a:r>
            <a:r>
              <a:rPr lang="en-GB" dirty="0"/>
              <a:t>), Nitika Chopra(</a:t>
            </a:r>
            <a:r>
              <a:rPr lang="en-US" dirty="0"/>
              <a:t>24165303</a:t>
            </a:r>
            <a:r>
              <a:rPr lang="en-GB" dirty="0"/>
              <a:t>), </a:t>
            </a:r>
            <a:r>
              <a:rPr lang="en-US" dirty="0"/>
              <a:t>Vanajakshi </a:t>
            </a:r>
            <a:r>
              <a:rPr lang="en-US" dirty="0" err="1"/>
              <a:t>Gottapu</a:t>
            </a:r>
            <a:r>
              <a:rPr lang="en-GB" dirty="0"/>
              <a:t>(</a:t>
            </a:r>
            <a:r>
              <a:rPr lang="en-US" dirty="0"/>
              <a:t>24154707</a:t>
            </a:r>
            <a:r>
              <a:rPr lang="en-GB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584311-58F1-BD4D-8FED-50D72C3DE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2411482"/>
            <a:ext cx="10774428" cy="588024"/>
          </a:xfrm>
        </p:spPr>
        <p:txBody>
          <a:bodyPr/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We are using the dataset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student_depression_dataset</a:t>
            </a:r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 answer our Research Question  </a:t>
            </a:r>
          </a:p>
          <a:p>
            <a:r>
              <a:rPr lang="en-US" sz="2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</a:t>
            </a:r>
            <a:r>
              <a:rPr lang="en-US" sz="2800" dirty="0">
                <a:solidFill>
                  <a:srgbClr val="FF0000"/>
                </a:solidFill>
              </a:rPr>
              <a:t>Is there a difference in the median student academic score (Cumulative Grade Point Average (CGPA)) between depressed and non-depressed University students in India?”</a:t>
            </a:r>
            <a:endParaRPr lang="en-US" sz="2800" baseline="30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283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A 136               </a:t>
            </a:r>
          </a:p>
          <a:p>
            <a:r>
              <a:rPr lang="en-GB" dirty="0"/>
              <a:t>Names of Student Attendees: Aroosha Rasheed (24105689), AbdulRasheed Ibrahim(</a:t>
            </a:r>
            <a:r>
              <a:rPr lang="en-US" dirty="0"/>
              <a:t>24158550</a:t>
            </a:r>
            <a:r>
              <a:rPr lang="en-GB" dirty="0"/>
              <a:t>), Sayan Sen(</a:t>
            </a:r>
            <a:r>
              <a:rPr lang="en-US" dirty="0"/>
              <a:t>24146068</a:t>
            </a:r>
            <a:r>
              <a:rPr lang="en-GB" dirty="0"/>
              <a:t>), Nitika Chopra(</a:t>
            </a:r>
            <a:r>
              <a:rPr lang="en-US" dirty="0"/>
              <a:t>24165303</a:t>
            </a:r>
            <a:r>
              <a:rPr lang="en-GB" dirty="0"/>
              <a:t>), </a:t>
            </a:r>
            <a:r>
              <a:rPr lang="en-US" dirty="0"/>
              <a:t>Vanajakshi </a:t>
            </a:r>
            <a:r>
              <a:rPr lang="en-US" dirty="0" err="1"/>
              <a:t>Gottapu</a:t>
            </a:r>
            <a:r>
              <a:rPr lang="en-GB" dirty="0"/>
              <a:t>(</a:t>
            </a:r>
            <a:r>
              <a:rPr lang="en-US" dirty="0"/>
              <a:t>24154707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2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61A1C-AA50-D158-0C7E-3A1BC9191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B85EB41-0324-80C1-D662-C74DC9788A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0D3922-8E88-BA20-5E07-992A47701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01432" y="218879"/>
            <a:ext cx="10646609" cy="107454"/>
          </a:xfrm>
        </p:spPr>
        <p:txBody>
          <a:bodyPr/>
          <a:lstStyle/>
          <a:p>
            <a:r>
              <a:rPr lang="en-GB" sz="1100" dirty="0"/>
              <a:t>7COM1079-2025  Student Group No: A 136                    </a:t>
            </a:r>
          </a:p>
          <a:p>
            <a:r>
              <a:rPr lang="en-GB" sz="1100" dirty="0"/>
              <a:t>Names of Student Group Attendees: Aroosha Rasheed (24105689), AbdulRasheed Ibrahim(</a:t>
            </a:r>
            <a:r>
              <a:rPr lang="en-US" sz="1100" dirty="0"/>
              <a:t>24158550</a:t>
            </a:r>
            <a:r>
              <a:rPr lang="en-GB" sz="1100" dirty="0"/>
              <a:t>), Sayan Sen(</a:t>
            </a:r>
            <a:r>
              <a:rPr lang="en-US" sz="1100" dirty="0"/>
              <a:t>24146068</a:t>
            </a:r>
            <a:r>
              <a:rPr lang="en-GB" sz="1100" dirty="0"/>
              <a:t>), Nitika Chopra(</a:t>
            </a:r>
            <a:r>
              <a:rPr lang="en-US" sz="1100" dirty="0"/>
              <a:t>24165303</a:t>
            </a:r>
            <a:r>
              <a:rPr lang="en-GB" sz="1100" dirty="0"/>
              <a:t>), </a:t>
            </a:r>
            <a:r>
              <a:rPr lang="en-US" sz="1100" dirty="0"/>
              <a:t>Vanajakshi </a:t>
            </a:r>
            <a:r>
              <a:rPr lang="en-US" sz="1100" dirty="0" err="1"/>
              <a:t>Gottapu</a:t>
            </a:r>
            <a:r>
              <a:rPr lang="en-GB" sz="1100" dirty="0"/>
              <a:t>(</a:t>
            </a:r>
            <a:r>
              <a:rPr lang="en-US" sz="1100" dirty="0"/>
              <a:t>24154707</a:t>
            </a:r>
            <a:r>
              <a:rPr lang="en-GB" sz="11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4634B-E812-EFF7-5CD1-5964BBB9A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3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3988E5E-D0BC-590E-C5B1-160B9C995959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421B0468-C317-C2FE-2803-FC20CFB8A9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6626" y="945624"/>
            <a:ext cx="7818747" cy="3663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F9F570E-FE77-4E43-BFC3-E5150E5F951A}"/>
              </a:ext>
            </a:extLst>
          </p:cNvPr>
          <p:cNvSpPr txBox="1"/>
          <p:nvPr/>
        </p:nvSpPr>
        <p:spPr>
          <a:xfrm>
            <a:off x="3746090" y="4896465"/>
            <a:ext cx="6174658" cy="3105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Original Columns</a:t>
            </a: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Columns chosen for the visualization:</a:t>
            </a:r>
          </a:p>
          <a:p>
            <a:pPr algn="l" rtl="0" fontAlgn="base">
              <a:lnSpc>
                <a:spcPts val="1987"/>
              </a:lnSpc>
            </a:pP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Academic Score (CGPA) - Dependent Variable</a:t>
            </a: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US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Depression – Independent Variable</a:t>
            </a: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US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r>
              <a:rPr lang="en-GB" sz="1800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2. Total Rows: 27,901 and 18 columns</a:t>
            </a: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789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E8B72-2189-FEC7-8EFB-D6CEF561B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1D23E90-BB79-2752-402F-A441E39056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FC6B8-243A-6527-4B2A-067F55164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4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10AE720-45C2-7355-F524-4CF17CF626BE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9EF20C69-E844-3C13-661D-93BA2FF3660B}"/>
              </a:ext>
            </a:extLst>
          </p:cNvPr>
          <p:cNvSpPr txBox="1"/>
          <p:nvPr/>
        </p:nvSpPr>
        <p:spPr>
          <a:xfrm>
            <a:off x="901432" y="313721"/>
            <a:ext cx="6174658" cy="2849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Data Filtering and Cleaning</a:t>
            </a:r>
            <a:endParaRPr lang="en-US" sz="24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 Filter Profession == “Student”</a:t>
            </a:r>
          </a:p>
          <a:p>
            <a:pPr algn="l" rtl="0" fontAlgn="base">
              <a:lnSpc>
                <a:spcPts val="1987"/>
              </a:lnSpc>
              <a:buFont typeface="+mj-lt"/>
              <a:buAutoNum type="arabicPeriod"/>
            </a:pPr>
            <a:endParaRPr lang="en-GB" sz="1800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fontAlgn="base">
              <a:lnSpc>
                <a:spcPts val="1987"/>
              </a:lnSpc>
            </a:pP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#find the unique values in "Profession" </a:t>
            </a:r>
            <a:r>
              <a:rPr lang="en-GB" dirty="0" err="1">
                <a:solidFill>
                  <a:srgbClr val="203232"/>
                </a:solidFill>
                <a:latin typeface="Arial" panose="020B0604020202020204" pitchFamily="34" charset="0"/>
              </a:rPr>
              <a:t>columnunique</a:t>
            </a: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(</a:t>
            </a:r>
            <a:r>
              <a:rPr lang="en-GB" dirty="0" err="1">
                <a:solidFill>
                  <a:srgbClr val="203232"/>
                </a:solidFill>
                <a:latin typeface="Arial" panose="020B0604020202020204" pitchFamily="34" charset="0"/>
              </a:rPr>
              <a:t>data$Profession</a:t>
            </a: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)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86B784B-34DE-7792-9889-D75CD5054A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432" y="2083100"/>
            <a:ext cx="5017587" cy="15184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8D2650-716B-952F-ADDD-1C15E0A6C5D1}"/>
              </a:ext>
            </a:extLst>
          </p:cNvPr>
          <p:cNvSpPr txBox="1"/>
          <p:nvPr/>
        </p:nvSpPr>
        <p:spPr>
          <a:xfrm>
            <a:off x="4420473" y="3930135"/>
            <a:ext cx="619592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atinLnBrk="1"/>
            <a:r>
              <a:rPr lang="en-US" dirty="0">
                <a:solidFill>
                  <a:srgbClr val="FF0000"/>
                </a:solidFill>
              </a:rPr>
              <a:t>&gt; #find the number of rows that are not students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&gt; data %&gt;% 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+   filter(Profession != "Student") %&gt;% 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+   </a:t>
            </a:r>
            <a:r>
              <a:rPr lang="en-US" dirty="0" err="1">
                <a:solidFill>
                  <a:srgbClr val="FF0000"/>
                </a:solidFill>
              </a:rPr>
              <a:t>nrow</a:t>
            </a:r>
            <a:r>
              <a:rPr lang="en-US" dirty="0">
                <a:solidFill>
                  <a:srgbClr val="FF0000"/>
                </a:solidFill>
              </a:rPr>
              <a:t>()</a:t>
            </a:r>
          </a:p>
          <a:p>
            <a:pPr latinLnBrk="1"/>
            <a:r>
              <a:rPr lang="en-US" dirty="0">
                <a:solidFill>
                  <a:srgbClr val="FF0000"/>
                </a:solidFill>
              </a:rPr>
              <a:t>  31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# Filter students only</a:t>
            </a:r>
          </a:p>
          <a:p>
            <a:r>
              <a:rPr lang="en-US" dirty="0" err="1">
                <a:solidFill>
                  <a:srgbClr val="FF0000"/>
                </a:solidFill>
              </a:rPr>
              <a:t>data_students</a:t>
            </a:r>
            <a:r>
              <a:rPr lang="en-US" dirty="0">
                <a:solidFill>
                  <a:srgbClr val="FF0000"/>
                </a:solidFill>
              </a:rPr>
              <a:t> &lt;- data %&gt;%  filter(Profession == "Student")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4382D2D-F749-9EDF-05EF-4AD26580F94F}"/>
                  </a:ext>
                </a:extLst>
              </p14:cNvPr>
              <p14:cNvContentPartPr/>
              <p14:nvPr/>
            </p14:nvContentPartPr>
            <p14:xfrm>
              <a:off x="4651394" y="5200788"/>
              <a:ext cx="304560" cy="309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4382D2D-F749-9EDF-05EF-4AD26580F94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97394" y="5093148"/>
                <a:ext cx="412200" cy="246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79898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BF50-1B39-5F8C-61EF-4DC2E344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C54EEBB1-4F2C-44DD-90F2-01BC44AB23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774428" cy="588024"/>
          </a:xfrm>
        </p:spPr>
        <p:txBody>
          <a:bodyPr/>
          <a:lstStyle/>
          <a:p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0027-AD51-26E3-3517-BA93976F1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5</a:t>
            </a:fld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1235010-1614-70DC-F3F7-0C38BB77CDF6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53E785F-3E81-F91B-237D-870DC1C6E922}"/>
              </a:ext>
            </a:extLst>
          </p:cNvPr>
          <p:cNvSpPr txBox="1"/>
          <p:nvPr/>
        </p:nvSpPr>
        <p:spPr>
          <a:xfrm>
            <a:off x="773613" y="372152"/>
            <a:ext cx="10966103" cy="2593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lnSpc>
                <a:spcPts val="1987"/>
              </a:lnSpc>
            </a:pPr>
            <a:r>
              <a:rPr lang="en-US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Data Filtering and Cleaning</a:t>
            </a:r>
            <a:endParaRPr lang="en-US" sz="24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endParaRPr lang="en-US" sz="1800" b="1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987"/>
              </a:lnSpc>
            </a:pPr>
            <a:r>
              <a:rPr lang="en-GB" dirty="0">
                <a:solidFill>
                  <a:srgbClr val="203232"/>
                </a:solidFill>
                <a:latin typeface="Arial" panose="020B0604020202020204" pitchFamily="34" charset="0"/>
              </a:rPr>
              <a:t>2. Remove any rows with N/A values/null values from CGPA / Depression columns and remove rows where “CGPA” = 0 </a:t>
            </a:r>
            <a:endParaRPr lang="en-GB" sz="1800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fontAlgn="base">
              <a:lnSpc>
                <a:spcPts val="1987"/>
              </a:lnSpc>
            </a:pP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b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</a:br>
            <a:r>
              <a:rPr lang="en-GB" sz="1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GB" b="0" i="0" dirty="0">
              <a:solidFill>
                <a:srgbClr val="203232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5520"/>
              </a:lnSpc>
              <a:buNone/>
            </a:pPr>
            <a:r>
              <a:rPr lang="en-US" sz="4800" b="0" i="0" dirty="0">
                <a:solidFill>
                  <a:srgbClr val="203232"/>
                </a:solidFill>
                <a:effectLst/>
                <a:latin typeface="Arial" panose="020B0604020202020204" pitchFamily="34" charset="0"/>
              </a:rPr>
              <a:t>​</a:t>
            </a:r>
            <a:endParaRPr lang="en-US" b="0" i="0" dirty="0">
              <a:solidFill>
                <a:srgbClr val="203232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9A4D7F-CE09-D6A4-A3AB-3DC20E75D413}"/>
              </a:ext>
            </a:extLst>
          </p:cNvPr>
          <p:cNvSpPr txBox="1"/>
          <p:nvPr/>
        </p:nvSpPr>
        <p:spPr>
          <a:xfrm>
            <a:off x="773613" y="3429000"/>
            <a:ext cx="1075962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nn-NO" dirty="0">
                <a:solidFill>
                  <a:srgbClr val="FF0000"/>
                </a:solidFill>
              </a:rPr>
              <a:t>&gt; data_students %&gt;% </a:t>
            </a:r>
          </a:p>
          <a:p>
            <a:pPr latinLnBrk="1"/>
            <a:r>
              <a:rPr lang="nn-NO" dirty="0">
                <a:solidFill>
                  <a:srgbClr val="FF0000"/>
                </a:solidFill>
              </a:rPr>
              <a:t>+   filter(CGPA == 0)  %&gt;% </a:t>
            </a:r>
          </a:p>
          <a:p>
            <a:pPr latinLnBrk="1"/>
            <a:r>
              <a:rPr lang="nn-NO" dirty="0">
                <a:solidFill>
                  <a:srgbClr val="FF0000"/>
                </a:solidFill>
              </a:rPr>
              <a:t>+   nrow()</a:t>
            </a:r>
          </a:p>
          <a:p>
            <a:pPr latinLnBrk="1"/>
            <a:r>
              <a:rPr lang="nn-NO" dirty="0">
                <a:solidFill>
                  <a:srgbClr val="FF0000"/>
                </a:solidFill>
              </a:rPr>
              <a:t>    9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# Clean data; Remove any rows with missing CGPA or Depression values, and remove CGPA of 0 </a:t>
            </a:r>
            <a:r>
              <a:rPr lang="en-US" dirty="0" err="1">
                <a:solidFill>
                  <a:srgbClr val="FF0000"/>
                </a:solidFill>
              </a:rPr>
              <a:t>data_clean</a:t>
            </a:r>
            <a:r>
              <a:rPr lang="en-US" dirty="0">
                <a:solidFill>
                  <a:srgbClr val="FF0000"/>
                </a:solidFill>
              </a:rPr>
              <a:t> &lt;- </a:t>
            </a:r>
            <a:r>
              <a:rPr lang="en-US" dirty="0" err="1">
                <a:solidFill>
                  <a:srgbClr val="FF0000"/>
                </a:solidFill>
              </a:rPr>
              <a:t>data_students</a:t>
            </a:r>
            <a:r>
              <a:rPr lang="en-US" dirty="0">
                <a:solidFill>
                  <a:srgbClr val="FF0000"/>
                </a:solidFill>
              </a:rPr>
              <a:t> %&gt;% filter(!is.na(CGPA) &amp; !is.na(Depression) &amp; CGPA != 0)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047DDCD-16EF-CB3D-2B83-32C6F032AA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336" y="1610869"/>
            <a:ext cx="10107464" cy="181813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CF2C779-D8BA-9D41-D126-EB950E421E83}"/>
                  </a:ext>
                </a:extLst>
              </p14:cNvPr>
              <p14:cNvContentPartPr/>
              <p14:nvPr/>
            </p14:nvContentPartPr>
            <p14:xfrm>
              <a:off x="1052114" y="4444068"/>
              <a:ext cx="2757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CF2C779-D8BA-9D41-D126-EB950E421E8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98114" y="4336068"/>
                <a:ext cx="3834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91961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31262B9-84B0-C1A5-543C-8FA0F2459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54458" y="3069000"/>
            <a:ext cx="7200000" cy="360000"/>
          </a:xfrm>
        </p:spPr>
        <p:txBody>
          <a:bodyPr/>
          <a:lstStyle/>
          <a:p>
            <a:r>
              <a:rPr lang="en-US" dirty="0"/>
              <a:t>Part 1: VISUALISATION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B5058-8385-6382-3B48-5ADE78ED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144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E4F5B-D4B0-8884-7F5F-7395AFE85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E914057-BDFA-A5B2-0C63-DA39BB3FD5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1034819"/>
            <a:ext cx="10567950" cy="360000"/>
          </a:xfrm>
        </p:spPr>
        <p:txBody>
          <a:bodyPr/>
          <a:lstStyle/>
          <a:p>
            <a:r>
              <a:rPr lang="en-US" sz="2800" dirty="0"/>
              <a:t>Difference in mean/median CGPA for depressed/non-depressed students in India</a:t>
            </a:r>
            <a:endParaRPr lang="en-GB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E275A-C4C6-D950-8666-649AA843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7</a:t>
            </a:fld>
            <a:endParaRPr lang="en-GB"/>
          </a:p>
        </p:txBody>
      </p:sp>
      <p:pic>
        <p:nvPicPr>
          <p:cNvPr id="5" name="Picture 4" descr="A close-up of a number&#10;&#10;AI-generated content may be incorrect.">
            <a:extLst>
              <a:ext uri="{FF2B5EF4-FFF2-40B4-BE49-F238E27FC236}">
                <a16:creationId xmlns:a16="http://schemas.microsoft.com/office/drawing/2014/main" id="{344FD94E-3401-9E76-7B01-19BCCE421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89" y="2143433"/>
            <a:ext cx="8776871" cy="179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843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/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/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/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/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br/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/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/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8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/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/>
          <p:cNvSpPr/>
          <p:nvPr/>
        </p:nvSpPr>
        <p:spPr>
          <a:xfrm>
            <a:off x="663300" y="1771244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GB" dirty="0"/>
          </a:p>
        </p:txBody>
      </p:sp>
      <p:sp>
        <p:nvSpPr>
          <p:cNvPr id="113" name="CustomShape 10"/>
          <p:cNvSpPr/>
          <p:nvPr/>
        </p:nvSpPr>
        <p:spPr>
          <a:xfrm>
            <a:off x="7275870" y="2966577"/>
            <a:ext cx="3846825" cy="17528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pc="-1" dirty="0">
                <a:solidFill>
                  <a:srgbClr val="203232"/>
                </a:solidFill>
              </a:rPr>
              <a:t>The normal curve overlay </a:t>
            </a:r>
            <a:r>
              <a:rPr lang="en-GB" b="1" i="1" spc="-1" dirty="0">
                <a:solidFill>
                  <a:srgbClr val="203232"/>
                </a:solidFill>
              </a:rPr>
              <a:t>does not follow</a:t>
            </a:r>
            <a:r>
              <a:rPr lang="en-GB" spc="-1" dirty="0">
                <a:solidFill>
                  <a:srgbClr val="203232"/>
                </a:solidFill>
              </a:rPr>
              <a:t> the shape of the underlying data, so we use the non-parametric test that does not assume normality: </a:t>
            </a:r>
            <a:r>
              <a:rPr lang="en-GB" spc="-1" dirty="0">
                <a:solidFill>
                  <a:srgbClr val="0073CF"/>
                </a:solidFill>
              </a:rPr>
              <a:t>Wilcoxon</a:t>
            </a:r>
            <a:r>
              <a:rPr lang="en-GB" spc="-1" dirty="0">
                <a:solidFill>
                  <a:srgbClr val="203232"/>
                </a:solidFill>
              </a:rPr>
              <a:t> also known as the </a:t>
            </a:r>
            <a:r>
              <a:rPr lang="en-GB" spc="-1" dirty="0">
                <a:solidFill>
                  <a:srgbClr val="0073CF"/>
                </a:solidFill>
              </a:rPr>
              <a:t>Mann Whitney U Test.</a:t>
            </a:r>
            <a:endParaRPr lang="en-US" spc="-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F8965-95F3-E3DD-CF99-AD76067AEF77}"/>
              </a:ext>
            </a:extLst>
          </p:cNvPr>
          <p:cNvSpPr txBox="1"/>
          <p:nvPr/>
        </p:nvSpPr>
        <p:spPr>
          <a:xfrm>
            <a:off x="7275870" y="2092128"/>
            <a:ext cx="3180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Histogram - Overall CGPA</a:t>
            </a:r>
          </a:p>
        </p:txBody>
      </p:sp>
      <p:pic>
        <p:nvPicPr>
          <p:cNvPr id="4" name="Picture 3" descr="A graph of a graph with blue bars and red line&#10;&#10;AI-generated content may be incorrect.">
            <a:extLst>
              <a:ext uri="{FF2B5EF4-FFF2-40B4-BE49-F238E27FC236}">
                <a16:creationId xmlns:a16="http://schemas.microsoft.com/office/drawing/2014/main" id="{40B6DDC1-C295-09E2-9762-2332339BA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828" y="2205511"/>
            <a:ext cx="6205182" cy="39650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2800" y="262288"/>
            <a:ext cx="7176911" cy="230832"/>
          </a:xfrm>
        </p:spPr>
        <p:txBody>
          <a:bodyPr/>
          <a:lstStyle/>
          <a:p>
            <a:r>
              <a:rPr lang="en-GB" dirty="0"/>
              <a:t>PRE 7COM1079-2022  Student Group No:  A 136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9</a:t>
            </a:fld>
            <a:endParaRPr lang="en-GB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8296624-D625-8A51-63F8-EC461F283B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800" y="680046"/>
            <a:ext cx="9781369" cy="230833"/>
          </a:xfrm>
          <a:solidFill>
            <a:schemeClr val="bg2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FF0000"/>
                </a:solidFill>
              </a:rPr>
              <a:t>2. Boxplot</a:t>
            </a:r>
            <a:endParaRPr lang="en-GB" b="0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1F9D6F-3193-4870-158F-AEA59E2B813F}"/>
              </a:ext>
            </a:extLst>
          </p:cNvPr>
          <p:cNvSpPr txBox="1"/>
          <p:nvPr/>
        </p:nvSpPr>
        <p:spPr>
          <a:xfrm>
            <a:off x="7010400" y="2685820"/>
            <a:ext cx="34804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Outliers have been removed for </a:t>
            </a:r>
          </a:p>
          <a:p>
            <a:r>
              <a:rPr lang="en-US" dirty="0">
                <a:solidFill>
                  <a:srgbClr val="FF0000"/>
                </a:solidFill>
              </a:rPr>
              <a:t>where CGPA = 0</a:t>
            </a:r>
          </a:p>
        </p:txBody>
      </p:sp>
      <p:pic>
        <p:nvPicPr>
          <p:cNvPr id="5" name="Picture 4" descr="A graph of a comparison of students&#10;&#10;AI-generated content may be incorrect.">
            <a:extLst>
              <a:ext uri="{FF2B5EF4-FFF2-40B4-BE49-F238E27FC236}">
                <a16:creationId xmlns:a16="http://schemas.microsoft.com/office/drawing/2014/main" id="{7E9BC938-B43B-08FE-BE63-865DB2A130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780" y="1414026"/>
            <a:ext cx="6168632" cy="3941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358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2EC50-20C2-7B69-38C1-802085247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>
            <a:extLst>
              <a:ext uri="{FF2B5EF4-FFF2-40B4-BE49-F238E27FC236}">
                <a16:creationId xmlns:a16="http://schemas.microsoft.com/office/drawing/2014/main" id="{95723682-6F19-C0F8-5C87-99BF972326C5}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>
            <a:extLst>
              <a:ext uri="{FF2B5EF4-FFF2-40B4-BE49-F238E27FC236}">
                <a16:creationId xmlns:a16="http://schemas.microsoft.com/office/drawing/2014/main" id="{59CF95D9-2372-DE69-0408-1346F1F53907}"/>
              </a:ext>
            </a:extLst>
          </p:cNvPr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>
            <a:extLst>
              <a:ext uri="{FF2B5EF4-FFF2-40B4-BE49-F238E27FC236}">
                <a16:creationId xmlns:a16="http://schemas.microsoft.com/office/drawing/2014/main" id="{BD5A8D64-CCFD-5306-83D4-7AB5615B272E}"/>
              </a:ext>
            </a:extLst>
          </p:cNvPr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>
            <a:extLst>
              <a:ext uri="{FF2B5EF4-FFF2-40B4-BE49-F238E27FC236}">
                <a16:creationId xmlns:a16="http://schemas.microsoft.com/office/drawing/2014/main" id="{2A4E58ED-0DC3-CBD2-50C2-6F69EAD79684}"/>
              </a:ext>
            </a:extLst>
          </p:cNvPr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>
            <a:extLst>
              <a:ext uri="{FF2B5EF4-FFF2-40B4-BE49-F238E27FC236}">
                <a16:creationId xmlns:a16="http://schemas.microsoft.com/office/drawing/2014/main" id="{825EE3B4-3C83-3502-3A72-040B53047745}"/>
              </a:ext>
            </a:extLst>
          </p:cNvPr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br/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>
            <a:extLst>
              <a:ext uri="{FF2B5EF4-FFF2-40B4-BE49-F238E27FC236}">
                <a16:creationId xmlns:a16="http://schemas.microsoft.com/office/drawing/2014/main" id="{5C90A7C8-C960-5586-0BD8-8EC12E0665C0}"/>
              </a:ext>
            </a:extLst>
          </p:cNvPr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>
            <a:extLst>
              <a:ext uri="{FF2B5EF4-FFF2-40B4-BE49-F238E27FC236}">
                <a16:creationId xmlns:a16="http://schemas.microsoft.com/office/drawing/2014/main" id="{09A008A0-19C1-1AE3-5B7D-247605B7AD69}"/>
              </a:ext>
            </a:extLst>
          </p:cNvPr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10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>
            <a:extLst>
              <a:ext uri="{FF2B5EF4-FFF2-40B4-BE49-F238E27FC236}">
                <a16:creationId xmlns:a16="http://schemas.microsoft.com/office/drawing/2014/main" id="{83CDF2D2-C842-B56D-4257-CD462A178F28}"/>
              </a:ext>
            </a:extLst>
          </p:cNvPr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>
            <a:extLst>
              <a:ext uri="{FF2B5EF4-FFF2-40B4-BE49-F238E27FC236}">
                <a16:creationId xmlns:a16="http://schemas.microsoft.com/office/drawing/2014/main" id="{8EBC55C2-0DD7-D3F0-F69E-D14FEFBFDF3B}"/>
              </a:ext>
            </a:extLst>
          </p:cNvPr>
          <p:cNvSpPr/>
          <p:nvPr/>
        </p:nvSpPr>
        <p:spPr>
          <a:xfrm>
            <a:off x="632472" y="1731961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just">
              <a:lnSpc>
                <a:spcPct val="100000"/>
              </a:lnSpc>
            </a:pPr>
            <a:endParaRPr lang="en-US" spc="-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8C849-0CC6-2347-D7BF-1BC0FDE77170}"/>
              </a:ext>
            </a:extLst>
          </p:cNvPr>
          <p:cNvSpPr txBox="1"/>
          <p:nvPr/>
        </p:nvSpPr>
        <p:spPr>
          <a:xfrm>
            <a:off x="2972007" y="1821071"/>
            <a:ext cx="6247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Pie Chart of Depressed and Non-depressed students</a:t>
            </a:r>
          </a:p>
        </p:txBody>
      </p:sp>
      <p:pic>
        <p:nvPicPr>
          <p:cNvPr id="3" name="Picture 2" descr="A pie chart with a red circle and blue circle&#10;&#10;AI-generated content may be incorrect.">
            <a:extLst>
              <a:ext uri="{FF2B5EF4-FFF2-40B4-BE49-F238E27FC236}">
                <a16:creationId xmlns:a16="http://schemas.microsoft.com/office/drawing/2014/main" id="{28DCCB7F-5496-221F-2E3C-47852A19C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4134" y="2313032"/>
            <a:ext cx="6545618" cy="418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343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3BCDAA3-A3AD-A880-5E9C-0E1ABBC0A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92167" y="2997174"/>
            <a:ext cx="4375084" cy="1060297"/>
          </a:xfrm>
        </p:spPr>
        <p:txBody>
          <a:bodyPr/>
          <a:lstStyle/>
          <a:p>
            <a:r>
              <a:rPr lang="en-US" dirty="0"/>
              <a:t>Part 2: Analysis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BD585-11D8-30FD-4A30-9F1639F0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321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/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/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12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/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R Script and Results (independent T test) – The Analysis</a:t>
            </a:r>
            <a:endParaRPr lang="en-US" sz="3600" b="1" strike="noStrike" spc="-1" dirty="0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BC67A1-346D-734F-321E-2098D1481674}"/>
              </a:ext>
            </a:extLst>
          </p:cNvPr>
          <p:cNvSpPr txBox="1"/>
          <p:nvPr/>
        </p:nvSpPr>
        <p:spPr>
          <a:xfrm>
            <a:off x="819336" y="1562895"/>
            <a:ext cx="11235012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0000"/>
                </a:solidFill>
              </a:rPr>
              <a:t># Statistical Tests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FF0000"/>
                </a:solidFill>
              </a:rPr>
              <a:t># Wilcoxon Rank-Sum </a:t>
            </a:r>
            <a:r>
              <a:rPr lang="en-GB" sz="2400" dirty="0" err="1">
                <a:solidFill>
                  <a:srgbClr val="FF0000"/>
                </a:solidFill>
              </a:rPr>
              <a:t>Testprint</a:t>
            </a:r>
            <a:r>
              <a:rPr lang="en-GB" sz="2400" dirty="0">
                <a:solidFill>
                  <a:srgbClr val="FF0000"/>
                </a:solidFill>
              </a:rPr>
              <a:t>("Wilcoxon Rank-Sum Test:")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FF0000"/>
                </a:solidFill>
              </a:rPr>
              <a:t>wilcox_test_result</a:t>
            </a:r>
            <a:r>
              <a:rPr lang="en-GB" sz="2400" dirty="0">
                <a:solidFill>
                  <a:srgbClr val="FF0000"/>
                </a:solidFill>
              </a:rPr>
              <a:t> &lt;- </a:t>
            </a:r>
            <a:r>
              <a:rPr lang="en-GB" sz="2400" dirty="0" err="1">
                <a:solidFill>
                  <a:srgbClr val="FF0000"/>
                </a:solidFill>
              </a:rPr>
              <a:t>wilcox.test</a:t>
            </a:r>
            <a:r>
              <a:rPr lang="en-GB" sz="2400" dirty="0">
                <a:solidFill>
                  <a:srgbClr val="FF0000"/>
                </a:solidFill>
              </a:rPr>
              <a:t>(CGPA ~ Depression, data = </a:t>
            </a:r>
            <a:r>
              <a:rPr lang="en-GB" sz="2400" dirty="0" err="1">
                <a:solidFill>
                  <a:srgbClr val="FF0000"/>
                </a:solidFill>
              </a:rPr>
              <a:t>data_clean</a:t>
            </a:r>
            <a:r>
              <a:rPr lang="en-GB" sz="2400" dirty="0">
                <a:solidFill>
                  <a:srgbClr val="FF0000"/>
                </a:solidFill>
              </a:rPr>
              <a:t>)print(</a:t>
            </a:r>
            <a:r>
              <a:rPr lang="en-GB" sz="2400" dirty="0" err="1">
                <a:solidFill>
                  <a:srgbClr val="FF0000"/>
                </a:solidFill>
              </a:rPr>
              <a:t>wilcox_test_result</a:t>
            </a:r>
            <a:r>
              <a:rPr lang="en-GB" sz="2400" dirty="0">
                <a:solidFill>
                  <a:srgbClr val="FF0000"/>
                </a:solidFill>
              </a:rPr>
              <a:t>)</a:t>
            </a:r>
          </a:p>
        </p:txBody>
      </p:sp>
      <p:pic>
        <p:nvPicPr>
          <p:cNvPr id="4" name="Picture 3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E3A5AA7B-101F-514A-E4F1-44D0E146E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9552" y="3272731"/>
            <a:ext cx="10698180" cy="224316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2B189-AFC0-1037-2F87-DF74850B0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>
            <a:extLst>
              <a:ext uri="{FF2B5EF4-FFF2-40B4-BE49-F238E27FC236}">
                <a16:creationId xmlns:a16="http://schemas.microsoft.com/office/drawing/2014/main" id="{7D4F4D67-6B3E-5994-9D04-FB89FD5D4BD1}"/>
              </a:ext>
            </a:extLst>
          </p:cNvPr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>
            <a:extLst>
              <a:ext uri="{FF2B5EF4-FFF2-40B4-BE49-F238E27FC236}">
                <a16:creationId xmlns:a16="http://schemas.microsoft.com/office/drawing/2014/main" id="{98C88DF6-BD0C-C525-0195-619E5F7AFBDB}"/>
              </a:ext>
            </a:extLst>
          </p:cNvPr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13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>
            <a:extLst>
              <a:ext uri="{FF2B5EF4-FFF2-40B4-BE49-F238E27FC236}">
                <a16:creationId xmlns:a16="http://schemas.microsoft.com/office/drawing/2014/main" id="{48DA6604-31F0-AD8D-4B1F-A6290B98D48F}"/>
              </a:ext>
            </a:extLst>
          </p:cNvPr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 dirty="0">
                <a:solidFill>
                  <a:srgbClr val="203232"/>
                </a:solidFill>
                <a:latin typeface="Arial"/>
              </a:rPr>
              <a:t>R Script and Results  (Wilcoxon) – The Analysis</a:t>
            </a:r>
            <a:endParaRPr lang="en-US" sz="3600" b="1" strike="noStrike" spc="-1" dirty="0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 dirty="0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A31144-C628-EF3B-BEFB-27BC34C67132}"/>
              </a:ext>
            </a:extLst>
          </p:cNvPr>
          <p:cNvSpPr txBox="1"/>
          <p:nvPr/>
        </p:nvSpPr>
        <p:spPr>
          <a:xfrm>
            <a:off x="827188" y="906120"/>
            <a:ext cx="11066988" cy="60016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2400" spc="-202" dirty="0">
              <a:solidFill>
                <a:srgbClr val="FF0000"/>
              </a:solidFill>
              <a:latin typeface="+mj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j-lt"/>
              </a:rPr>
              <a:t>p-value</a:t>
            </a:r>
            <a:r>
              <a:rPr lang="en-US" sz="2400" dirty="0">
                <a:latin typeface="+mj-lt"/>
              </a:rPr>
              <a:t> = </a:t>
            </a:r>
            <a:r>
              <a:rPr lang="en-US" sz="2400" dirty="0"/>
              <a:t>0.0003097</a:t>
            </a:r>
            <a:r>
              <a:rPr lang="en-US" dirty="0"/>
              <a:t> </a:t>
            </a:r>
            <a:r>
              <a:rPr lang="en-US" sz="2400" b="0" strike="noStrike" spc="-202" dirty="0">
                <a:solidFill>
                  <a:srgbClr val="203232"/>
                </a:solidFill>
                <a:latin typeface="+mj-lt"/>
              </a:rPr>
              <a:t>&lt; 0.05 </a:t>
            </a:r>
            <a:r>
              <a:rPr lang="en-US" sz="2400" spc="-202" dirty="0">
                <a:solidFill>
                  <a:srgbClr val="203232"/>
                </a:solidFill>
              </a:rPr>
              <a:t>(The result is significant)</a:t>
            </a:r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+mj-lt"/>
              </a:rPr>
              <a:t>Null hypothesis (H0): There is </a:t>
            </a:r>
            <a:r>
              <a:rPr lang="en-US" sz="2400" b="1" dirty="0">
                <a:solidFill>
                  <a:srgbClr val="FF0000"/>
                </a:solidFill>
                <a:latin typeface="+mj-lt"/>
              </a:rPr>
              <a:t>no</a:t>
            </a:r>
            <a:r>
              <a:rPr lang="en-US" sz="2400" dirty="0">
                <a:solidFill>
                  <a:srgbClr val="FF0000"/>
                </a:solidFill>
                <a:latin typeface="+mj-lt"/>
              </a:rPr>
              <a:t> difference in the median student academic score (Cumulative Grade Point Average(CGPA)) among depressed and non-depressed University students in India. ​</a:t>
            </a:r>
            <a:br>
              <a:rPr lang="en-US" sz="2400" dirty="0">
                <a:solidFill>
                  <a:srgbClr val="FF0000"/>
                </a:solidFill>
                <a:latin typeface="+mj-lt"/>
              </a:rPr>
            </a:br>
            <a:r>
              <a:rPr lang="en-US" sz="2400" dirty="0">
                <a:solidFill>
                  <a:srgbClr val="FF0000"/>
                </a:solidFill>
                <a:latin typeface="+mj-lt"/>
              </a:rPr>
              <a:t>​</a:t>
            </a:r>
            <a:br>
              <a:rPr lang="en-US" sz="2400" dirty="0">
                <a:solidFill>
                  <a:srgbClr val="FF0000"/>
                </a:solidFill>
                <a:latin typeface="+mj-lt"/>
              </a:rPr>
            </a:br>
            <a:r>
              <a:rPr lang="en-US" sz="2400" dirty="0">
                <a:solidFill>
                  <a:srgbClr val="FF0000"/>
                </a:solidFill>
                <a:latin typeface="+mj-lt"/>
              </a:rPr>
              <a:t>Alt hypothesis (H1): </a:t>
            </a:r>
            <a:r>
              <a:rPr lang="en-US" sz="2400" dirty="0">
                <a:solidFill>
                  <a:srgbClr val="FF0000"/>
                </a:solidFill>
              </a:rPr>
              <a:t>There is a difference in the median student academic score (Cumulative Grade Point Average(CGPA)) among depressed and non-depressed University students in India. ​</a:t>
            </a:r>
            <a:br>
              <a:rPr lang="en-US" sz="2400" dirty="0">
                <a:solidFill>
                  <a:srgbClr val="FF0000"/>
                </a:solidFill>
              </a:rPr>
            </a:br>
            <a:endParaRPr lang="en-US" sz="2400" b="0" strike="noStrike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spc="-202" dirty="0">
                <a:solidFill>
                  <a:srgbClr val="203232"/>
                </a:solidFill>
                <a:latin typeface="+mj-lt"/>
              </a:rPr>
              <a:t>Reject the null hypothesis. There is a different in the median academic score(CGPA) between depressed and non-depressed University students in India.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spc="-202" dirty="0">
              <a:solidFill>
                <a:srgbClr val="20323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spc="-202" dirty="0">
                <a:solidFill>
                  <a:srgbClr val="203232"/>
                </a:solidFill>
                <a:latin typeface="+mj-lt"/>
              </a:rPr>
              <a:t>Depressed students in India perform better academically in terms of their Cumulative Grade Point Average (CGPA) compared to non-depressed students.</a:t>
            </a:r>
          </a:p>
        </p:txBody>
      </p:sp>
    </p:spTree>
    <p:extLst>
      <p:ext uri="{BB962C8B-B14F-4D97-AF65-F5344CB8AC3E}">
        <p14:creationId xmlns:p14="http://schemas.microsoft.com/office/powerpoint/2010/main" val="3596274778"/>
      </p:ext>
    </p:extLst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2859</TotalTime>
  <Words>785</Words>
  <Application>Microsoft Office PowerPoint</Application>
  <PresentationFormat>Widescreen</PresentationFormat>
  <Paragraphs>95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Segoe UI</vt:lpstr>
      <vt:lpstr>Times New Roman</vt:lpstr>
      <vt:lpstr>Herts Theme</vt:lpstr>
      <vt:lpstr>Visualization and Analysis –  Tutorial Presentation for Feedback Date:  11/22/2025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Aroosha Rasheed [Student-PECS]</cp:lastModifiedBy>
  <cp:revision>136</cp:revision>
  <dcterms:created xsi:type="dcterms:W3CDTF">2019-10-01T08:37:56Z</dcterms:created>
  <dcterms:modified xsi:type="dcterms:W3CDTF">2025-12-09T03:36:52Z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</Properties>
</file>