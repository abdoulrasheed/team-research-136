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9" r:id="rId5"/>
    <p:sldId id="329" r:id="rId6"/>
    <p:sldId id="347" r:id="rId7"/>
    <p:sldId id="341" r:id="rId8"/>
    <p:sldId id="352" r:id="rId9"/>
    <p:sldId id="259" r:id="rId10"/>
    <p:sldId id="351" r:id="rId11"/>
    <p:sldId id="340" r:id="rId12"/>
    <p:sldId id="342" r:id="rId13"/>
    <p:sldId id="262" r:id="rId14"/>
    <p:sldId id="353" r:id="rId15"/>
    <p:sldId id="35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04/12/2025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3263-7B7F-9669-8C74-54BD783A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F9180-8333-4707-E031-7BA805E9E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1D82B-21FD-4588-7EA3-72B3F980E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12444-4EE2-3565-F6CC-E32814525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82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7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4BB6-775E-510F-8B0F-B91A3315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>
            <a:extLst>
              <a:ext uri="{FF2B5EF4-FFF2-40B4-BE49-F238E27FC236}">
                <a16:creationId xmlns:a16="http://schemas.microsoft.com/office/drawing/2014/main" id="{0FEE0802-160E-8642-2F9F-E7BA1369C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>
            <a:extLst>
              <a:ext uri="{FF2B5EF4-FFF2-40B4-BE49-F238E27FC236}">
                <a16:creationId xmlns:a16="http://schemas.microsoft.com/office/drawing/2014/main" id="{C4E00770-4ED6-3329-932C-67422CEACAC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>
            <a:extLst>
              <a:ext uri="{FF2B5EF4-FFF2-40B4-BE49-F238E27FC236}">
                <a16:creationId xmlns:a16="http://schemas.microsoft.com/office/drawing/2014/main" id="{2231F400-67BB-19D8-2685-F08849C3C3F1}"/>
              </a:ext>
            </a:extLst>
          </p:cNvPr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4472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F9EA-333F-3A4F-1319-49836C99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>
            <a:extLst>
              <a:ext uri="{FF2B5EF4-FFF2-40B4-BE49-F238E27FC236}">
                <a16:creationId xmlns:a16="http://schemas.microsoft.com/office/drawing/2014/main" id="{24090A4B-994C-5B52-E294-918099E63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>
            <a:extLst>
              <a:ext uri="{FF2B5EF4-FFF2-40B4-BE49-F238E27FC236}">
                <a16:creationId xmlns:a16="http://schemas.microsoft.com/office/drawing/2014/main" id="{EF66D1F8-8FF0-B382-082E-2B2EA2CC835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>
            <a:extLst>
              <a:ext uri="{FF2B5EF4-FFF2-40B4-BE49-F238E27FC236}">
                <a16:creationId xmlns:a16="http://schemas.microsoft.com/office/drawing/2014/main" id="{91034AA0-84DC-81D3-6B95-78FD17FA7A63}"/>
              </a:ext>
            </a:extLst>
          </p:cNvPr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522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37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  <p:sldLayoutId id="2147483724" r:id="rId14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and Analysis – </a:t>
            </a:r>
            <a:br>
              <a:rPr lang="en-US" dirty="0"/>
            </a:br>
            <a:r>
              <a:rPr lang="en-US" sz="4000" dirty="0"/>
              <a:t>Tutorial Presentation for Feedback</a:t>
            </a:r>
            <a:br>
              <a:rPr lang="en-US" sz="4000" dirty="0"/>
            </a:br>
            <a:r>
              <a:rPr lang="en-US" sz="2200" dirty="0"/>
              <a:t>Date:  11/22/2025</a:t>
            </a:r>
            <a:br>
              <a:rPr lang="en-US" sz="80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10567440" cy="360000"/>
          </a:xfrm>
        </p:spPr>
        <p:txBody>
          <a:bodyPr/>
          <a:lstStyle/>
          <a:p>
            <a:r>
              <a:rPr lang="en-US" sz="2000" dirty="0"/>
              <a:t>Group Id: A 136                                                          Name of Student Presenting:  Aroosha Rasheed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274320"/>
            <a:ext cx="10455567" cy="736245"/>
          </a:xfrm>
        </p:spPr>
        <p:txBody>
          <a:bodyPr/>
          <a:lstStyle/>
          <a:p>
            <a:r>
              <a:rPr lang="en-GB" dirty="0"/>
              <a:t>7COM1079-2025  Student Group No: A 136               </a:t>
            </a:r>
          </a:p>
          <a:p>
            <a:r>
              <a:rPr lang="en-GB" dirty="0"/>
              <a:t>Names of Student Attendees: Aroosha Rasheed (24105689), AbdulRasheed Ibrahim(</a:t>
            </a:r>
            <a:r>
              <a:rPr lang="en-US" dirty="0"/>
              <a:t>24158550</a:t>
            </a:r>
            <a:r>
              <a:rPr lang="en-GB" dirty="0"/>
              <a:t>), Sayan Sen(</a:t>
            </a:r>
            <a:r>
              <a:rPr lang="en-US" dirty="0"/>
              <a:t>24146068</a:t>
            </a:r>
            <a:r>
              <a:rPr lang="en-GB" dirty="0"/>
              <a:t>), Nitika Chopra(</a:t>
            </a:r>
            <a:r>
              <a:rPr lang="en-US" dirty="0"/>
              <a:t>24165303</a:t>
            </a:r>
            <a:r>
              <a:rPr lang="en-GB" dirty="0"/>
              <a:t>), </a:t>
            </a:r>
            <a:r>
              <a:rPr lang="en-US" dirty="0"/>
              <a:t>Vanajakshi </a:t>
            </a:r>
            <a:r>
              <a:rPr lang="en-US" dirty="0" err="1"/>
              <a:t>Gottapu</a:t>
            </a:r>
            <a:r>
              <a:rPr lang="en-GB" dirty="0"/>
              <a:t>(</a:t>
            </a:r>
            <a:r>
              <a:rPr lang="en-US" dirty="0"/>
              <a:t>24154707</a:t>
            </a:r>
            <a:r>
              <a:rPr lang="en-GB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4311-58F1-BD4D-8FED-50D72C3D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2411482"/>
            <a:ext cx="10774428" cy="588024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are using the dataset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student_depression_dataset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answer our Research Question  </a:t>
            </a:r>
          </a:p>
          <a:p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800" dirty="0">
                <a:solidFill>
                  <a:srgbClr val="FF0000"/>
                </a:solidFill>
              </a:rPr>
              <a:t>Is there a difference in the median student academic score (Cumulative Grade Point Average (CGPA)) between depressed and non-depressed University students in India?”</a:t>
            </a:r>
            <a:endParaRPr lang="en-US" sz="2800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283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 136               </a:t>
            </a:r>
          </a:p>
          <a:p>
            <a:r>
              <a:rPr lang="en-GB" dirty="0"/>
              <a:t>Names of Student Attendees: Aroosha Rasheed (24105689), AbdulRasheed Ibrahim(</a:t>
            </a:r>
            <a:r>
              <a:rPr lang="en-US" dirty="0"/>
              <a:t>24158550</a:t>
            </a:r>
            <a:r>
              <a:rPr lang="en-GB" dirty="0"/>
              <a:t>), Sayan Sen(</a:t>
            </a:r>
            <a:r>
              <a:rPr lang="en-US" dirty="0"/>
              <a:t>24146068</a:t>
            </a:r>
            <a:r>
              <a:rPr lang="en-GB" dirty="0"/>
              <a:t>), Nitika Chopra(</a:t>
            </a:r>
            <a:r>
              <a:rPr lang="en-US" dirty="0"/>
              <a:t>24165303</a:t>
            </a:r>
            <a:r>
              <a:rPr lang="en-GB" dirty="0"/>
              <a:t>), </a:t>
            </a:r>
            <a:r>
              <a:rPr lang="en-US" dirty="0"/>
              <a:t>Vanajakshi </a:t>
            </a:r>
            <a:r>
              <a:rPr lang="en-US" dirty="0" err="1"/>
              <a:t>Gottapu</a:t>
            </a:r>
            <a:r>
              <a:rPr lang="en-GB" dirty="0"/>
              <a:t>(</a:t>
            </a:r>
            <a:r>
              <a:rPr lang="en-US" dirty="0"/>
              <a:t>24154707</a:t>
            </a:r>
            <a:r>
              <a:rPr lang="en-GB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2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1A1C-AA50-D158-0C7E-3A1BC919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B85EB41-0324-80C1-D662-C74DC9788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080637"/>
            <a:ext cx="10774428" cy="588024"/>
          </a:xfrm>
        </p:spPr>
        <p:txBody>
          <a:bodyPr/>
          <a:lstStyle/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D3922-8E88-BA20-5E07-992A4770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1432" y="218879"/>
            <a:ext cx="10646609" cy="107454"/>
          </a:xfrm>
        </p:spPr>
        <p:txBody>
          <a:bodyPr/>
          <a:lstStyle/>
          <a:p>
            <a:r>
              <a:rPr lang="en-GB" sz="1100" dirty="0"/>
              <a:t>7COM1079-2025  Student Group No: A 136                    </a:t>
            </a:r>
          </a:p>
          <a:p>
            <a:r>
              <a:rPr lang="en-GB" sz="1100" dirty="0"/>
              <a:t>Names of Student Group Attendees: Aroosha Rasheed (24105689), AbdulRasheed Ibrahim(</a:t>
            </a:r>
            <a:r>
              <a:rPr lang="en-US" sz="1100" dirty="0"/>
              <a:t>24158550</a:t>
            </a:r>
            <a:r>
              <a:rPr lang="en-GB" sz="1100" dirty="0"/>
              <a:t>), Sayan Sen(</a:t>
            </a:r>
            <a:r>
              <a:rPr lang="en-US" sz="1100" dirty="0"/>
              <a:t>24146068</a:t>
            </a:r>
            <a:r>
              <a:rPr lang="en-GB" sz="1100" dirty="0"/>
              <a:t>), Nitika Chopra(</a:t>
            </a:r>
            <a:r>
              <a:rPr lang="en-US" sz="1100" dirty="0"/>
              <a:t>24165303</a:t>
            </a:r>
            <a:r>
              <a:rPr lang="en-GB" sz="1100" dirty="0"/>
              <a:t>), </a:t>
            </a:r>
            <a:r>
              <a:rPr lang="en-US" sz="1100" dirty="0"/>
              <a:t>Vanajakshi </a:t>
            </a:r>
            <a:r>
              <a:rPr lang="en-US" sz="1100" dirty="0" err="1"/>
              <a:t>Gottapu</a:t>
            </a:r>
            <a:r>
              <a:rPr lang="en-GB" sz="1100" dirty="0"/>
              <a:t>(</a:t>
            </a:r>
            <a:r>
              <a:rPr lang="en-US" sz="1100" dirty="0"/>
              <a:t>24154707</a:t>
            </a:r>
            <a:r>
              <a:rPr lang="en-GB" sz="11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4634B-E812-EFF7-5CD1-5964BBB9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3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3988E5E-D0BC-590E-C5B1-160B9C995959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421B0468-C317-C2FE-2803-FC20CFB8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626" y="945624"/>
            <a:ext cx="7818747" cy="366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9F570E-FE77-4E43-BFC3-E5150E5F951A}"/>
              </a:ext>
            </a:extLst>
          </p:cNvPr>
          <p:cNvSpPr txBox="1"/>
          <p:nvPr/>
        </p:nvSpPr>
        <p:spPr>
          <a:xfrm>
            <a:off x="3746090" y="5085787"/>
            <a:ext cx="6096000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Columns chosen for the visualization:</a:t>
            </a:r>
          </a:p>
          <a:p>
            <a:pPr algn="l" rtl="0" fontAlgn="base">
              <a:lnSpc>
                <a:spcPts val="1987"/>
              </a:lnSpc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Academic Score (CGPA) - Dependent Variable</a:t>
            </a: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Depression – Independent Variable</a:t>
            </a: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r>
              <a:rPr lang="en-GB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 Rows: 27,901 and 18 columns</a:t>
            </a: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GB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78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1262B9-84B0-C1A5-543C-8FA0F245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4458" y="3069000"/>
            <a:ext cx="7200000" cy="360000"/>
          </a:xfrm>
        </p:spPr>
        <p:txBody>
          <a:bodyPr/>
          <a:lstStyle/>
          <a:p>
            <a:r>
              <a:rPr lang="en-US" dirty="0"/>
              <a:t>Part 1: VISUALISATION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B5058-8385-6382-3B48-5ADE78E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14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4F5B-D4B0-8884-7F5F-7395AFE8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E914057-BDFA-A5B2-0C63-DA39BB3FD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034819"/>
            <a:ext cx="10567950" cy="360000"/>
          </a:xfrm>
        </p:spPr>
        <p:txBody>
          <a:bodyPr/>
          <a:lstStyle/>
          <a:p>
            <a:r>
              <a:rPr lang="en-US" sz="2800" dirty="0"/>
              <a:t>Difference in mean/median CGPA for depressed/non-depressed students in India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E275A-C4C6-D950-8666-649AA843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5456B-C82B-10DC-1294-C361767A1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9" y="2127785"/>
            <a:ext cx="10789029" cy="178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4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/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/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/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/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/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/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6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/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to include the normal curve overlay (shown in blue)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/>
          <p:cNvSpPr/>
          <p:nvPr/>
        </p:nvSpPr>
        <p:spPr>
          <a:xfrm>
            <a:off x="663300" y="1751580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dirty="0"/>
          </a:p>
        </p:txBody>
      </p:sp>
      <p:sp>
        <p:nvSpPr>
          <p:cNvPr id="113" name="CustomShape 10"/>
          <p:cNvSpPr/>
          <p:nvPr/>
        </p:nvSpPr>
        <p:spPr>
          <a:xfrm>
            <a:off x="6646936" y="2966577"/>
            <a:ext cx="447576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normal curve overlay </a:t>
            </a:r>
            <a:r>
              <a:rPr lang="en-GB" sz="1800" b="1" i="1" strike="noStrike" spc="-1" dirty="0">
                <a:solidFill>
                  <a:srgbClr val="203232"/>
                </a:solidFill>
                <a:latin typeface="Arial"/>
              </a:rPr>
              <a:t>does not follow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 the shape of the underlying data, so we use the non-parametric test that does not assume normality: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Wilcoxon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 also known as the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Mann Whitney U Test.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F8965-95F3-E3DD-CF99-AD76067AEF77}"/>
              </a:ext>
            </a:extLst>
          </p:cNvPr>
          <p:cNvSpPr txBox="1"/>
          <p:nvPr/>
        </p:nvSpPr>
        <p:spPr>
          <a:xfrm>
            <a:off x="6646936" y="2421746"/>
            <a:ext cx="318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 - Overall CGPA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F724-DD38-F254-71F8-9A6232519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04" y="2421746"/>
            <a:ext cx="5371998" cy="32158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EC50-20C2-7B69-38C1-80208524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>
            <a:extLst>
              <a:ext uri="{FF2B5EF4-FFF2-40B4-BE49-F238E27FC236}">
                <a16:creationId xmlns:a16="http://schemas.microsoft.com/office/drawing/2014/main" id="{95723682-6F19-C0F8-5C87-99BF972326C5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>
            <a:extLst>
              <a:ext uri="{FF2B5EF4-FFF2-40B4-BE49-F238E27FC236}">
                <a16:creationId xmlns:a16="http://schemas.microsoft.com/office/drawing/2014/main" id="{59CF95D9-2372-DE69-0408-1346F1F53907}"/>
              </a:ext>
            </a:extLst>
          </p:cNvPr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>
            <a:extLst>
              <a:ext uri="{FF2B5EF4-FFF2-40B4-BE49-F238E27FC236}">
                <a16:creationId xmlns:a16="http://schemas.microsoft.com/office/drawing/2014/main" id="{BD5A8D64-CCFD-5306-83D4-7AB5615B272E}"/>
              </a:ext>
            </a:extLst>
          </p:cNvPr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>
            <a:extLst>
              <a:ext uri="{FF2B5EF4-FFF2-40B4-BE49-F238E27FC236}">
                <a16:creationId xmlns:a16="http://schemas.microsoft.com/office/drawing/2014/main" id="{2A4E58ED-0DC3-CBD2-50C2-6F69EAD79684}"/>
              </a:ext>
            </a:extLst>
          </p:cNvPr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>
            <a:extLst>
              <a:ext uri="{FF2B5EF4-FFF2-40B4-BE49-F238E27FC236}">
                <a16:creationId xmlns:a16="http://schemas.microsoft.com/office/drawing/2014/main" id="{825EE3B4-3C83-3502-3A72-040B53047745}"/>
              </a:ext>
            </a:extLst>
          </p:cNvPr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>
            <a:extLst>
              <a:ext uri="{FF2B5EF4-FFF2-40B4-BE49-F238E27FC236}">
                <a16:creationId xmlns:a16="http://schemas.microsoft.com/office/drawing/2014/main" id="{5C90A7C8-C960-5586-0BD8-8EC12E0665C0}"/>
              </a:ext>
            </a:extLst>
          </p:cNvPr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>
            <a:extLst>
              <a:ext uri="{FF2B5EF4-FFF2-40B4-BE49-F238E27FC236}">
                <a16:creationId xmlns:a16="http://schemas.microsoft.com/office/drawing/2014/main" id="{09A008A0-19C1-1AE3-5B7D-247605B7AD69}"/>
              </a:ext>
            </a:extLst>
          </p:cNvPr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7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>
            <a:extLst>
              <a:ext uri="{FF2B5EF4-FFF2-40B4-BE49-F238E27FC236}">
                <a16:creationId xmlns:a16="http://schemas.microsoft.com/office/drawing/2014/main" id="{83CDF2D2-C842-B56D-4257-CD462A178F28}"/>
              </a:ext>
            </a:extLst>
          </p:cNvPr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to include the normal curve overlay (shown in blue)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>
            <a:extLst>
              <a:ext uri="{FF2B5EF4-FFF2-40B4-BE49-F238E27FC236}">
                <a16:creationId xmlns:a16="http://schemas.microsoft.com/office/drawing/2014/main" id="{8EBC55C2-0DD7-D3F0-F69E-D14FEFBFDF3B}"/>
              </a:ext>
            </a:extLst>
          </p:cNvPr>
          <p:cNvSpPr/>
          <p:nvPr/>
        </p:nvSpPr>
        <p:spPr>
          <a:xfrm>
            <a:off x="632472" y="1731961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just">
              <a:lnSpc>
                <a:spcPct val="100000"/>
              </a:lnSpc>
            </a:pPr>
            <a:endParaRPr lang="en-US" spc="-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8C849-0CC6-2347-D7BF-1BC0FDE77170}"/>
              </a:ext>
            </a:extLst>
          </p:cNvPr>
          <p:cNvSpPr txBox="1"/>
          <p:nvPr/>
        </p:nvSpPr>
        <p:spPr>
          <a:xfrm>
            <a:off x="1484670" y="2055148"/>
            <a:ext cx="624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Piechart</a:t>
            </a:r>
            <a:r>
              <a:rPr lang="en-US" dirty="0"/>
              <a:t> of Depressed and Non-depressed students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453B1-E0CA-5FFE-C188-AD1014B7D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70" y="2699821"/>
            <a:ext cx="4839119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43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800" y="262288"/>
            <a:ext cx="7176911" cy="230832"/>
          </a:xfrm>
        </p:spPr>
        <p:txBody>
          <a:bodyPr/>
          <a:lstStyle/>
          <a:p>
            <a:r>
              <a:rPr lang="en-GB" dirty="0"/>
              <a:t>PRE 7COM1079-2022  Student Group No:  A 136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8296624-D625-8A51-63F8-EC461F283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800" y="680046"/>
            <a:ext cx="9781369" cy="230833"/>
          </a:xfrm>
          <a:solidFill>
            <a:schemeClr val="bg2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FF0000"/>
                </a:solidFill>
              </a:rPr>
              <a:t>2. Boxplot</a:t>
            </a:r>
            <a:endParaRPr lang="en-GB" b="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D4422-C9FA-BF9D-E4BD-9ADA0FB5B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51" y="1459059"/>
            <a:ext cx="6515665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5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BCDAA3-A3AD-A880-5E9C-0E1ABBC0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2167" y="2997174"/>
            <a:ext cx="4375084" cy="1060297"/>
          </a:xfrm>
        </p:spPr>
        <p:txBody>
          <a:bodyPr/>
          <a:lstStyle/>
          <a:p>
            <a:r>
              <a:rPr lang="en-US" dirty="0"/>
              <a:t>Part 2: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BD585-11D8-30FD-4A30-9F1639F0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21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10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(T test for validation)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819336" y="1562895"/>
            <a:ext cx="10815526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# Independent T-Test – not required but used for validation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print("Independent t-test:")</a:t>
            </a:r>
            <a:r>
              <a:rPr lang="en-US" sz="2400" dirty="0" err="1">
                <a:solidFill>
                  <a:srgbClr val="FF0000"/>
                </a:solidFill>
              </a:rPr>
              <a:t>t_test_result</a:t>
            </a:r>
            <a:r>
              <a:rPr lang="en-US" sz="2400" dirty="0">
                <a:solidFill>
                  <a:srgbClr val="FF0000"/>
                </a:solidFill>
              </a:rPr>
              <a:t> &lt;- </a:t>
            </a:r>
            <a:r>
              <a:rPr lang="en-US" sz="2400" dirty="0" err="1">
                <a:solidFill>
                  <a:srgbClr val="FF0000"/>
                </a:solidFill>
              </a:rPr>
              <a:t>t.test</a:t>
            </a:r>
            <a:r>
              <a:rPr lang="en-US" sz="2400" dirty="0">
                <a:solidFill>
                  <a:srgbClr val="FF0000"/>
                </a:solidFill>
              </a:rPr>
              <a:t>(CGPA ~ Depression, data = </a:t>
            </a:r>
            <a:r>
              <a:rPr lang="en-US" sz="2400" dirty="0" err="1">
                <a:solidFill>
                  <a:srgbClr val="FF0000"/>
                </a:solidFill>
              </a:rPr>
              <a:t>data_clean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print(</a:t>
            </a:r>
            <a:r>
              <a:rPr lang="en-US" sz="2400" dirty="0" err="1">
                <a:solidFill>
                  <a:srgbClr val="FF0000"/>
                </a:solidFill>
              </a:rPr>
              <a:t>t_test_result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296F4-3FDF-2F03-DC43-BAF5F7398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36" y="3429000"/>
            <a:ext cx="10815526" cy="23396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8F86-8F6D-4666-50D2-1D6BEBFC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>
            <a:extLst>
              <a:ext uri="{FF2B5EF4-FFF2-40B4-BE49-F238E27FC236}">
                <a16:creationId xmlns:a16="http://schemas.microsoft.com/office/drawing/2014/main" id="{4885983F-A1E0-898B-CDF8-BE17E2132651}"/>
              </a:ext>
            </a:extLst>
          </p:cNvPr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>
            <a:extLst>
              <a:ext uri="{FF2B5EF4-FFF2-40B4-BE49-F238E27FC236}">
                <a16:creationId xmlns:a16="http://schemas.microsoft.com/office/drawing/2014/main" id="{0AC8DDF5-C766-362A-CEE5-133777AD6C3A}"/>
              </a:ext>
            </a:extLst>
          </p:cNvPr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11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>
            <a:extLst>
              <a:ext uri="{FF2B5EF4-FFF2-40B4-BE49-F238E27FC236}">
                <a16:creationId xmlns:a16="http://schemas.microsoft.com/office/drawing/2014/main" id="{687F38B7-53DC-6350-379F-598173DC23C2}"/>
              </a:ext>
            </a:extLst>
          </p:cNvPr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(Wilcoxon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D8DB4-05B9-E89B-ED79-46F18C272C40}"/>
              </a:ext>
            </a:extLst>
          </p:cNvPr>
          <p:cNvSpPr txBox="1"/>
          <p:nvPr/>
        </p:nvSpPr>
        <p:spPr>
          <a:xfrm>
            <a:off x="701458" y="1276908"/>
            <a:ext cx="11066988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spc="-202" dirty="0">
                <a:solidFill>
                  <a:srgbClr val="FF0000"/>
                </a:solidFill>
              </a:rPr>
              <a:t># Wilcoxon Rank-Sum Test</a:t>
            </a:r>
          </a:p>
          <a:p>
            <a:r>
              <a:rPr lang="en-US" sz="2400" spc="-202" dirty="0">
                <a:solidFill>
                  <a:srgbClr val="FF0000"/>
                </a:solidFill>
              </a:rPr>
              <a:t>print("Wilcoxon Rank-Sum Test:")</a:t>
            </a:r>
            <a:r>
              <a:rPr lang="en-US" sz="2400" spc="-202" dirty="0" err="1">
                <a:solidFill>
                  <a:srgbClr val="FF0000"/>
                </a:solidFill>
              </a:rPr>
              <a:t>wilcox_test_result</a:t>
            </a:r>
            <a:r>
              <a:rPr lang="en-US" sz="2400" spc="-202" dirty="0">
                <a:solidFill>
                  <a:srgbClr val="FF0000"/>
                </a:solidFill>
              </a:rPr>
              <a:t> &lt;- </a:t>
            </a:r>
            <a:r>
              <a:rPr lang="en-US" sz="2400" spc="-202" dirty="0" err="1">
                <a:solidFill>
                  <a:srgbClr val="FF0000"/>
                </a:solidFill>
              </a:rPr>
              <a:t>wilcox.test</a:t>
            </a:r>
            <a:r>
              <a:rPr lang="en-US" sz="2400" spc="-202" dirty="0">
                <a:solidFill>
                  <a:srgbClr val="FF0000"/>
                </a:solidFill>
              </a:rPr>
              <a:t>(CGPA ~ Depression, data = </a:t>
            </a:r>
            <a:r>
              <a:rPr lang="en-US" sz="2400" spc="-202" dirty="0" err="1">
                <a:solidFill>
                  <a:srgbClr val="FF0000"/>
                </a:solidFill>
              </a:rPr>
              <a:t>data_clean</a:t>
            </a:r>
            <a:r>
              <a:rPr lang="en-US" sz="2400" spc="-202" dirty="0">
                <a:solidFill>
                  <a:srgbClr val="FF0000"/>
                </a:solidFill>
              </a:rPr>
              <a:t>)</a:t>
            </a:r>
          </a:p>
          <a:p>
            <a:r>
              <a:rPr lang="en-US" sz="2400" spc="-202" dirty="0">
                <a:solidFill>
                  <a:srgbClr val="FF0000"/>
                </a:solidFill>
              </a:rPr>
              <a:t>print(</a:t>
            </a:r>
            <a:r>
              <a:rPr lang="en-US" sz="2400" spc="-202" dirty="0" err="1">
                <a:solidFill>
                  <a:srgbClr val="FF0000"/>
                </a:solidFill>
              </a:rPr>
              <a:t>wilcox_test_result</a:t>
            </a:r>
            <a:r>
              <a:rPr lang="en-US" sz="2400" spc="-202" dirty="0">
                <a:solidFill>
                  <a:srgbClr val="FF0000"/>
                </a:solidFill>
              </a:rPr>
              <a:t>)</a:t>
            </a:r>
          </a:p>
          <a:p>
            <a:endParaRPr lang="en-US" sz="2400" spc="-202" dirty="0">
              <a:solidFill>
                <a:srgbClr val="FF0000"/>
              </a:solidFill>
            </a:endParaRPr>
          </a:p>
          <a:p>
            <a:endParaRPr lang="en-US" sz="2400" spc="-202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DE164-1EF7-B458-A51C-AC820FDFB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58" y="3361712"/>
            <a:ext cx="11116069" cy="19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53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B189-AFC0-1037-2F87-DF74850B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>
            <a:extLst>
              <a:ext uri="{FF2B5EF4-FFF2-40B4-BE49-F238E27FC236}">
                <a16:creationId xmlns:a16="http://schemas.microsoft.com/office/drawing/2014/main" id="{7D4F4D67-6B3E-5994-9D04-FB89FD5D4BD1}"/>
              </a:ext>
            </a:extLst>
          </p:cNvPr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>
            <a:extLst>
              <a:ext uri="{FF2B5EF4-FFF2-40B4-BE49-F238E27FC236}">
                <a16:creationId xmlns:a16="http://schemas.microsoft.com/office/drawing/2014/main" id="{98C88DF6-BD0C-C525-0195-619E5F7AFBDB}"/>
              </a:ext>
            </a:extLst>
          </p:cNvPr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12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>
            <a:extLst>
              <a:ext uri="{FF2B5EF4-FFF2-40B4-BE49-F238E27FC236}">
                <a16:creationId xmlns:a16="http://schemas.microsoft.com/office/drawing/2014/main" id="{48DA6604-31F0-AD8D-4B1F-A6290B98D48F}"/>
              </a:ext>
            </a:extLst>
          </p:cNvPr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(Wilcoxon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31144-C628-EF3B-BEFB-27BC34C67132}"/>
              </a:ext>
            </a:extLst>
          </p:cNvPr>
          <p:cNvSpPr txBox="1"/>
          <p:nvPr/>
        </p:nvSpPr>
        <p:spPr>
          <a:xfrm>
            <a:off x="827188" y="906120"/>
            <a:ext cx="11066988" cy="5262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spc="-202" dirty="0">
              <a:solidFill>
                <a:srgbClr val="FF0000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p-value</a:t>
            </a:r>
            <a:r>
              <a:rPr lang="en-US" sz="2400" dirty="0">
                <a:latin typeface="+mj-lt"/>
              </a:rPr>
              <a:t> = 0.0002813 </a:t>
            </a:r>
            <a:r>
              <a:rPr lang="en-US" sz="2400" b="0" strike="noStrike" spc="-202" dirty="0">
                <a:solidFill>
                  <a:srgbClr val="203232"/>
                </a:solidFill>
                <a:latin typeface="+mj-lt"/>
              </a:rPr>
              <a:t>&lt; 0.05 </a:t>
            </a:r>
            <a:r>
              <a:rPr lang="en-US" sz="2400" spc="-202" dirty="0">
                <a:solidFill>
                  <a:srgbClr val="203232"/>
                </a:solidFill>
              </a:rPr>
              <a:t>(The result is significant)</a:t>
            </a:r>
            <a:endParaRPr lang="en-US" sz="2400" b="0" strike="noStrike" spc="-202" dirty="0">
              <a:solidFill>
                <a:srgbClr val="203232"/>
              </a:solidFill>
              <a:latin typeface="+mj-lt"/>
            </a:endParaRPr>
          </a:p>
          <a:p>
            <a:endParaRPr lang="en-US" sz="2400" b="0" strike="noStrike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Null hypothesis (H0): There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no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difference in the median of the student academic score (CGPA) among depressed and non-depressed University students in India. ​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​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Alt hypothesis (H1): There is a difference in the median CGPA between depressed and non-depressed University students in India.​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strike="noStrike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spc="-202" dirty="0">
                <a:solidFill>
                  <a:srgbClr val="203232"/>
                </a:solidFill>
                <a:latin typeface="+mj-lt"/>
              </a:rPr>
              <a:t>Reject the null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spc="-202" dirty="0">
                <a:solidFill>
                  <a:srgbClr val="203232"/>
                </a:solidFill>
                <a:latin typeface="+mj-lt"/>
              </a:rPr>
              <a:t>Depressed students in India perform better academically in terms of their Cumulative Grade Point Average (CGPA) compared to non-depressed students.</a:t>
            </a:r>
          </a:p>
        </p:txBody>
      </p:sp>
    </p:spTree>
    <p:extLst>
      <p:ext uri="{BB962C8B-B14F-4D97-AF65-F5344CB8AC3E}">
        <p14:creationId xmlns:p14="http://schemas.microsoft.com/office/powerpoint/2010/main" val="3596274778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Props1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2249</TotalTime>
  <Words>614</Words>
  <Application>Microsoft Office PowerPoint</Application>
  <PresentationFormat>Widescreen</PresentationFormat>
  <Paragraphs>68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Times New Roman</vt:lpstr>
      <vt:lpstr>Herts Theme</vt:lpstr>
      <vt:lpstr>Visualization and Analysis –  Tutorial Presentation for Feedback Date:  11/22/2025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Aroosha Rasheed [Student-PECS]</cp:lastModifiedBy>
  <cp:revision>74</cp:revision>
  <dcterms:created xsi:type="dcterms:W3CDTF">2019-10-01T08:37:56Z</dcterms:created>
  <dcterms:modified xsi:type="dcterms:W3CDTF">2025-12-04T06:54:13Z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